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Inter SemiBold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5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Inter-regular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-italic.fntdata"/><Relationship Id="rId14" Type="http://schemas.openxmlformats.org/officeDocument/2006/relationships/slide" Target="slides/slide9.xml"/><Relationship Id="rId36" Type="http://schemas.openxmlformats.org/officeDocument/2006/relationships/font" Target="fonts/Inter-bold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11" Type="http://schemas.openxmlformats.org/officeDocument/2006/relationships/image" Target="../media/image25.png"/><Relationship Id="rId10" Type="http://schemas.openxmlformats.org/officeDocument/2006/relationships/image" Target="../media/image41.png"/><Relationship Id="rId9" Type="http://schemas.openxmlformats.org/officeDocument/2006/relationships/image" Target="../media/image19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13.png"/><Relationship Id="rId6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5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7.png"/><Relationship Id="rId7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45.png"/><Relationship Id="rId11" Type="http://schemas.openxmlformats.org/officeDocument/2006/relationships/image" Target="../media/image49.png"/><Relationship Id="rId10" Type="http://schemas.openxmlformats.org/officeDocument/2006/relationships/image" Target="../media/image51.png"/><Relationship Id="rId9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Relationship Id="rId8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54.png"/><Relationship Id="rId9" Type="http://schemas.openxmlformats.org/officeDocument/2006/relationships/image" Target="../media/image53.png"/><Relationship Id="rId5" Type="http://schemas.openxmlformats.org/officeDocument/2006/relationships/image" Target="../media/image48.png"/><Relationship Id="rId6" Type="http://schemas.openxmlformats.org/officeDocument/2006/relationships/image" Target="../media/image67.png"/><Relationship Id="rId7" Type="http://schemas.openxmlformats.org/officeDocument/2006/relationships/image" Target="../media/image47.png"/><Relationship Id="rId8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50.png"/><Relationship Id="rId7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46.png"/><Relationship Id="rId5" Type="http://schemas.openxmlformats.org/officeDocument/2006/relationships/image" Target="../media/image61.png"/><Relationship Id="rId6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69.png"/><Relationship Id="rId9" Type="http://schemas.openxmlformats.org/officeDocument/2006/relationships/image" Target="../media/image70.png"/><Relationship Id="rId5" Type="http://schemas.openxmlformats.org/officeDocument/2006/relationships/image" Target="../media/image59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202209"/>
            <a:ext cx="90011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RAG </a:t>
            </a:r>
            <a:r>
              <a:rPr b="1" i="0" lang="en-US" sz="5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Fundamentals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126134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An Introduction to Retrieval-Augmented Generation for Cross-Functional Teams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238476"/>
            <a:ext cx="857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Java | UI | DevOps |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078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9078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90787"/>
            <a:ext cx="34861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428988" y="3538537"/>
            <a:ext cx="179022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4081462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why LLMs need help and what they fail at.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235892" y="3538537"/>
            <a:ext cx="17202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Pipeline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8200" y="40814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Breaking down the core components of RAG step-by-step.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97816" y="3538537"/>
            <a:ext cx="13401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Role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4081462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 Java, UI, DevOps, and DS integrate into the RAG system.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8336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2150" y="28336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810125"/>
            <a:ext cx="52768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88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295400" y="221932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LLMs Hallucinate: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They sound confident even when they are completely wrong.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295400" y="30670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No Real-Time Knowledge: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Their training data has a strict cutoff date.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95400" y="39147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No Private Data: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They don't know your company's internal wikis, code, or policies.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504825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"LLMs are incredibly smart... but they take exams completely closed-book."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38350"/>
            <a:ext cx="52578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2336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0813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3929062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RAG EXISTS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95462"/>
            <a:ext cx="52768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95462"/>
            <a:ext cx="52768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71550" y="2185987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Fine-Tuning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24650" y="2185987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RAG (Retrieval-Augmented)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24313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104900" y="2728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09675" y="27289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Expensive: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Requires significant GPU compute.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04900" y="31765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09675" y="31765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Static: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Once trained, the knowledge is baked in. Hard to update daily.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04900" y="39290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09675" y="39290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Concept: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Modifying the model's internal memory.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04900" y="46815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209675" y="46815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Best For: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Teaching an LLM a new tone, format, or language.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24313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858000" y="2728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962775" y="272891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Cost-Effective: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Only costs API tokens for search/generation.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858000" y="34813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962775" y="34813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Instantly update knowledge by adding docs to a DB.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858000" y="4233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962775" y="42338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Concept: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Giving the model an external memory drive.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858000" y="49863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962775" y="49863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Best For: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Question-answering over custom, factual data.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NOT FINE-TUNE?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81025" y="581025"/>
            <a:ext cx="554069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RAG?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" y="1247775"/>
            <a:ext cx="52768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81025" y="1647825"/>
            <a:ext cx="554069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Search First, Generate Second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81025" y="2362200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Retrieval-Augmented Generation (RAG) is a technique that combines an information retrieval system with a generative AI model.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81025" y="3510557"/>
            <a:ext cx="52768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Instead of guessing, the system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searches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your private database for relevant facts, and then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final answer based strictly on what it found.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581025" y="4181475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31390" y="4533900"/>
            <a:ext cx="2084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Query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4943475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asks a specific question via UI.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2792536" y="2827139"/>
            <a:ext cx="2084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Embed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2842170" y="3236714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Question converts to numerical vectors.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053682" y="4533900"/>
            <a:ext cx="2084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Retrieve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103316" y="4943475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Vector DB finds similar data chunks.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314827" y="2827139"/>
            <a:ext cx="2084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Prompt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364462" y="3236714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Combine context + query for the LLM.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575973" y="4533900"/>
            <a:ext cx="2084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Generate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625607" y="4943475"/>
            <a:ext cx="19853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LLM streams final synthesized answer.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459408" y="40862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720554" y="40862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981700" y="40862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8242845" y="40862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0503991" y="40862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RAG PIPELINE OVERVIEW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81025" y="2185987"/>
            <a:ext cx="50606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Visualizing the Flow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81025" y="2909887"/>
            <a:ext cx="48196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19437"/>
            <a:ext cx="661794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33500"/>
            <a:ext cx="53721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33500"/>
            <a:ext cx="53721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52875"/>
            <a:ext cx="53721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3952875"/>
            <a:ext cx="53721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2361961" y="2381250"/>
            <a:ext cx="181022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Embeddings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90600" y="292417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Captures semantic meaning (Data Science focus).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719774" y="2381250"/>
            <a:ext cx="241030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Vector Database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629400" y="2924175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specialized search engine (DevOps/Backend).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2631995" y="5000625"/>
            <a:ext cx="127015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Retriever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76300" y="5543550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Logic for top-k selection and ranking (Backend focus).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669893" y="5000625"/>
            <a:ext cx="5100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LLM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753225" y="5543550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Generates final readable answer (Full Stack/UI).</a:t>
            </a:r>
            <a:endParaRPr/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81325" y="1676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96325" y="1676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38475" y="42957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39175" y="42957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81025" y="266700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COMPONENTS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81025" y="9334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762500"/>
            <a:ext cx="52768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669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2057400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Intuition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581025" y="26003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Computers don't understand English, they understand numbers. Embeddings translate text into high-dimensional arrays of numbers (vectors).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81025" y="365760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Golden Rule: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Words or sentences with similar meanings are plotted closer together in this mathematical space.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71525" y="4953000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Analogy: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Like converting sentences into GPS coordinates. "Apple" (fruit) is close to "Banana", but far from "Apple" (company).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87642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ARE EMBEDDINGS?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0262"/>
            <a:ext cx="527685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0262"/>
            <a:ext cx="527685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971550" y="2490787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Keyword Search (Old Way)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971550" y="303371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Searches for exact string matches.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724650" y="2490787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Vector Search (New Way)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724650" y="303371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Searches using Cosine Similarity (Nearest Neighbors).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104900" y="34813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209675" y="34813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Query: "Can I work from home?"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104900" y="39290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209675" y="39290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Database has: "Remote work policy"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4900" y="43767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209675" y="43767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Result: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Zero matches.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words don't overlap.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858000" y="37861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962775" y="37861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Query: "Can I work from home?"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858000" y="4233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962775" y="42338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Database has: "Remote work policy"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858000" y="46815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962775" y="46815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Result: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Match found!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vectors are mathematically close in meaning.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VECTOR SEARCH (RETRIEVAL)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81025" y="581025"/>
            <a:ext cx="5540692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CHUNKING: THE HIDDEN HERO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81025" y="1819275"/>
            <a:ext cx="52768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81025" y="221932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split data?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81025" y="276225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can't stuff a 100-page PDF into an LLM. We must break it into paragraphs.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438275" y="3765946"/>
            <a:ext cx="441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Too Small: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Lose context (e.g., "He said yes" - who is he?).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438275" y="4613671"/>
            <a:ext cx="441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Too Big: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Retrieval pulls in irrelevant noise, diluting the answer.</a:t>
            </a:r>
            <a:endParaRPr/>
          </a:p>
        </p:txBody>
      </p:sp>
      <p:pic>
        <p:nvPicPr>
          <p:cNvPr descr="image.png" id="269" name="Google Shape;26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780234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627959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3550"/>
            <a:ext cx="53721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733550"/>
            <a:ext cx="53721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446722" y="4591050"/>
            <a:ext cx="564070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Company Policy Chatbot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81025" y="5133975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Upload HR handbooks → chunk → embed → store. Employees query "Maternity leave" → retrieve exact policy clause → LLM formats response.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104572" y="4591050"/>
            <a:ext cx="564070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Resume Q&amp;A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238875" y="5133975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Upload candidate CVs. Recruiter asks "Does this person know Spring Boot?" → vector search finds tech stack → LLM answers yes/no.</a:t>
            </a:r>
            <a:endParaRPr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743075"/>
            <a:ext cx="53530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1743075"/>
            <a:ext cx="53530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REAL-WORLD EXAMPLES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19325"/>
            <a:ext cx="527685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581025" y="221932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Simpler Than You Think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581025" y="27622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Whether in Python, Java (LangChain4j), or Node, the orchestration is usually just a few lines tying libraries together.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581025" y="38195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avoid writing raw embedding algorithms; we use API wrappers.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6534150" y="2438400"/>
            <a:ext cx="1371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# 1. Ingest Data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9020175" y="2695575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"data.pdf"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534150" y="3467100"/>
            <a:ext cx="1114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# 2. Retrieve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7219950" y="3724275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"What is the vacation policy?"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534150" y="4495800"/>
            <a:ext cx="1114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# 3. Generate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7305675" y="4752975"/>
            <a:ext cx="2828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f"Answer {query} using {context}"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534150" y="5267325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MINIMAL CODE IMPLEMENTATION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53721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81100"/>
            <a:ext cx="53721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05275"/>
            <a:ext cx="53721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105275"/>
            <a:ext cx="53721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2141934" y="2228850"/>
            <a:ext cx="225028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Java / Backend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876300" y="2771775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the API layer (Spring AI), managing secure DB connections, and orchestration logic.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7999809" y="2228850"/>
            <a:ext cx="185023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UI / Frontend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6534150" y="2771775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Managing streaming chat interfaces, typing effects, and displaying citation sources clearly.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2712005" y="5153025"/>
            <a:ext cx="11101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DevOps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876300" y="5695950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Deploying Vector DBs (Milvus/pgvector), handling cold starts, and managing API rate limits securely.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7989808" y="5153025"/>
            <a:ext cx="187023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Science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6534150" y="5695950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embedding models, improving chunking strategies, and evaluating hallucination rates.</a:t>
            </a:r>
            <a:endParaRPr/>
          </a:p>
        </p:txBody>
      </p:sp>
      <p:pic>
        <p:nvPicPr>
          <p:cNvPr descr="image.png" id="321" name="Google Shape;32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5625" y="15240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96325" y="1524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81325" y="44481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6325" y="44481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/>
        </p:nvSpPr>
        <p:spPr>
          <a:xfrm>
            <a:off x="581025" y="114300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YOUR ROLE FITS IN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581025" y="7810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2286000" y="2233612"/>
            <a:ext cx="809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Retrieval Failure = Generation Failure: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If the Vector DB returns the wrong document chunk, the LLM will confidently give the wrong answer.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2286000" y="3386137"/>
            <a:ext cx="809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Latency Issues: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Embedding the query, searching the DB, and waiting for the LLM to generate text adds significant network overhead.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2286000" y="4538662"/>
            <a:ext cx="8096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Context Window Limits: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You cannot pass infinite retrieved documents to the LLM. You must strictly limit results to top-K chunks.</a:t>
            </a:r>
            <a:endParaRPr/>
          </a:p>
        </p:txBody>
      </p:sp>
      <p:pic>
        <p:nvPicPr>
          <p:cNvPr descr="image.png" id="335" name="Google Shape;3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479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004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5295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LIMITATIONS OF RAG</a:t>
            </a:r>
            <a:endParaRPr/>
          </a:p>
        </p:txBody>
      </p:sp>
      <p:sp>
        <p:nvSpPr>
          <p:cNvPr id="339" name="Google Shape;339;p27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8387"/>
            <a:ext cx="34861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38387"/>
            <a:ext cx="34861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38387"/>
            <a:ext cx="3486150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8"/>
          <p:cNvSpPr txBox="1"/>
          <p:nvPr/>
        </p:nvSpPr>
        <p:spPr>
          <a:xfrm>
            <a:off x="1323975" y="3386137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Hybrid Search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876300" y="39290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Combining old-school Keyword Search + modern Vector Search for better accuracy.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5280898" y="3386137"/>
            <a:ext cx="16302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Re-ranking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4648200" y="3929062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a secondary ML model to re-order search results before sending them to the LLM.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9357836" y="3386137"/>
            <a:ext cx="10201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Agents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8420100" y="3929062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Giving the LLM "tools" to decide when to use RAG vs when to calculate math or hit APIs.</a:t>
            </a:r>
            <a:endParaRPr/>
          </a:p>
        </p:txBody>
      </p:sp>
      <p:pic>
        <p:nvPicPr>
          <p:cNvPr descr="image.png" id="354" name="Google Shape;35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26812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6812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0725" y="26812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8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 CONCEPTS (SNEAK PEEK)</a:t>
            </a:r>
            <a:endParaRPr/>
          </a:p>
        </p:txBody>
      </p:sp>
      <p:sp>
        <p:nvSpPr>
          <p:cNvPr id="358" name="Google Shape;358;p2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9812"/>
            <a:ext cx="52768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09812"/>
            <a:ext cx="527685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9"/>
          <p:cNvSpPr txBox="1"/>
          <p:nvPr/>
        </p:nvSpPr>
        <p:spPr>
          <a:xfrm>
            <a:off x="971550" y="2728912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 RAG When: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6724650" y="2728912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Avoid RAG When:</a:t>
            </a:r>
            <a:endParaRPr/>
          </a:p>
        </p:txBody>
      </p:sp>
      <p:pic>
        <p:nvPicPr>
          <p:cNvPr descr="image.png" id="368" name="Google Shape;36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7860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 txBox="1"/>
          <p:nvPr/>
        </p:nvSpPr>
        <p:spPr>
          <a:xfrm>
            <a:off x="1104900" y="32718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1209675" y="32718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is dynamic and updates frequently.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1104900" y="37195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1209675" y="371951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need to query private or highly specific documents.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1104900" y="44719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1209675" y="44719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need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explainability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(the system must cite its sources).</a:t>
            </a:r>
            <a:endParaRPr/>
          </a:p>
        </p:txBody>
      </p:sp>
      <p:pic>
        <p:nvPicPr>
          <p:cNvPr descr="image.png" id="375" name="Google Shape;37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786062"/>
            <a:ext cx="2095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6858000" y="32718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6962775" y="32718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task is purely reasoning (e.g., "Write a poem", "Refactor this code").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6858000" y="40243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6962775" y="40243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external factual knowledge is needed.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6858000" y="44719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6962775" y="44719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LLM already knows the subject deeply.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WHEN TO USE RAG</a:t>
            </a: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33625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33625"/>
            <a:ext cx="34861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33625"/>
            <a:ext cx="34861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 txBox="1"/>
          <p:nvPr/>
        </p:nvSpPr>
        <p:spPr>
          <a:xfrm>
            <a:off x="971550" y="2724150"/>
            <a:ext cx="2705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971550" y="3771900"/>
            <a:ext cx="270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External Brain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971550" y="4143375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 acts as an external memory drive for LLMs, stopping hallucinations.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4743450" y="2724150"/>
            <a:ext cx="2705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4743450" y="3771900"/>
            <a:ext cx="270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Retrieval &gt; Generation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4743450" y="4143375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quality of your search dictates the quality of the AI's final answer.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8515350" y="2724150"/>
            <a:ext cx="2705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515350" y="3771900"/>
            <a:ext cx="270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Design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8515350" y="4143375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AI isn't just modeling anymore; it's robust software engineering.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TAKEAWAYS</a:t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7" name="Google Shape;4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1"/>
          <p:cNvSpPr txBox="1"/>
          <p:nvPr/>
        </p:nvSpPr>
        <p:spPr>
          <a:xfrm>
            <a:off x="305276" y="2245072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409" name="Google Shape;409;p31"/>
          <p:cNvSpPr txBox="1"/>
          <p:nvPr/>
        </p:nvSpPr>
        <p:spPr>
          <a:xfrm>
            <a:off x="581025" y="3578572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581025" y="4355752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 github.com/your-profile</a:t>
            </a:r>
            <a:endParaRPr/>
          </a:p>
        </p:txBody>
      </p:sp>
      <p:pic>
        <p:nvPicPr>
          <p:cNvPr descr="image.png" id="411" name="Google Shape;41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2512" y="4384327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2"/>
          <p:cNvSpPr/>
          <p:nvPr/>
        </p:nvSpPr>
        <p:spPr>
          <a:xfrm>
            <a:off x="581025" y="1513879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581025" y="2298650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581025" y="328151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581025" y="406628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581025" y="485105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581025" y="22891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581025" y="22891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581025" y="327198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581025" y="327198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581025" y="40567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581025" y="40567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581025" y="48415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581025" y="48415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581025" y="56262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581025" y="56262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2" name="Google Shape;4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633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 txBox="1"/>
          <p:nvPr/>
        </p:nvSpPr>
        <p:spPr>
          <a:xfrm>
            <a:off x="1676400" y="165675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https://png.pngtree.com/png-clipart/20250103/original/pngtree-futuristic-robot-using-laptop-cartoon-vector-artwork-png-image_20059325.png</a:t>
            </a: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1676400" y="190246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435" name="Google Shape;43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4719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2"/>
          <p:cNvSpPr txBox="1"/>
          <p:nvPr/>
        </p:nvSpPr>
        <p:spPr>
          <a:xfrm>
            <a:off x="1676400" y="244152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https://media.istockphoto.com/id/2234389834/photo/businessman-holding-magnifying-glass-focusing-on-target-with-customer-icons-digital-marketing.jpg?s=612x612&amp;w=0&amp;k=20&amp;c=_S987UNkN1ZY9UWvxSqlVy3UVsD4D5IQTwAhNt6l-mg=</a:t>
            </a:r>
            <a:endParaRPr/>
          </a:p>
        </p:txBody>
      </p:sp>
      <p:sp>
        <p:nvSpPr>
          <p:cNvPr id="437" name="Google Shape;437;p32"/>
          <p:cNvSpPr txBox="1"/>
          <p:nvPr/>
        </p:nvSpPr>
        <p:spPr>
          <a:xfrm>
            <a:off x="1676400" y="288533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438" name="Google Shape;43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309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2"/>
          <p:cNvSpPr txBox="1"/>
          <p:nvPr/>
        </p:nvSpPr>
        <p:spPr>
          <a:xfrm>
            <a:off x="1676400" y="342438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https://www.babylonjs.com/assets/videos/clusteredLights.jpg</a:t>
            </a:r>
            <a:endParaRPr/>
          </a:p>
        </p:txBody>
      </p:sp>
      <p:sp>
        <p:nvSpPr>
          <p:cNvPr id="440" name="Google Shape;440;p32"/>
          <p:cNvSpPr txBox="1"/>
          <p:nvPr/>
        </p:nvSpPr>
        <p:spPr>
          <a:xfrm>
            <a:off x="1676400" y="367010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www.babylonjs.com</a:t>
            </a:r>
            <a:endParaRPr/>
          </a:p>
        </p:txBody>
      </p:sp>
      <p:pic>
        <p:nvPicPr>
          <p:cNvPr descr="image.png" id="441" name="Google Shape;44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157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2"/>
          <p:cNvSpPr txBox="1"/>
          <p:nvPr/>
        </p:nvSpPr>
        <p:spPr>
          <a:xfrm>
            <a:off x="1676400" y="420915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https://weaviate.io/assets/images/hero-372a1930c6d24f89e7d7189207c42125.png</a:t>
            </a:r>
            <a:endParaRPr/>
          </a:p>
        </p:txBody>
      </p:sp>
      <p:sp>
        <p:nvSpPr>
          <p:cNvPr id="443" name="Google Shape;443;p32"/>
          <p:cNvSpPr txBox="1"/>
          <p:nvPr/>
        </p:nvSpPr>
        <p:spPr>
          <a:xfrm>
            <a:off x="1676400" y="445487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weaviate.io</a:t>
            </a:r>
            <a:endParaRPr/>
          </a:p>
        </p:txBody>
      </p:sp>
      <p:pic>
        <p:nvPicPr>
          <p:cNvPr descr="image.png" id="444" name="Google Shape;444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0004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2"/>
          <p:cNvSpPr txBox="1"/>
          <p:nvPr/>
        </p:nvSpPr>
        <p:spPr>
          <a:xfrm>
            <a:off x="1676400" y="499392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https://cdn.vectorstock.com/i/1000v/49/93/ai-chatbot-interface-dark-theme-vector-58304993.jpg</a:t>
            </a:r>
            <a:endParaRPr/>
          </a:p>
        </p:txBody>
      </p:sp>
      <p:sp>
        <p:nvSpPr>
          <p:cNvPr id="446" name="Google Shape;446;p32"/>
          <p:cNvSpPr txBox="1"/>
          <p:nvPr/>
        </p:nvSpPr>
        <p:spPr>
          <a:xfrm>
            <a:off x="1676400" y="523964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www.vectorstock.com</a:t>
            </a:r>
            <a:endParaRPr/>
          </a:p>
        </p:txBody>
      </p:sp>
      <p:pic>
        <p:nvPicPr>
          <p:cNvPr descr="image.png" id="447" name="Google Shape;447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7852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2"/>
          <p:cNvSpPr txBox="1"/>
          <p:nvPr/>
        </p:nvSpPr>
        <p:spPr>
          <a:xfrm>
            <a:off x="1676400" y="577869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https://www.resumebuilder.com/wp-content/uploads/2025/09/FreelanceWriter.pdf.jpeg</a:t>
            </a: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1676400" y="60244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www.resumebuilder.com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581025" y="447079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451" name="Google Shape;451;p32"/>
          <p:cNvSpPr/>
          <p:nvPr/>
        </p:nvSpPr>
        <p:spPr>
          <a:xfrm>
            <a:off x="581025" y="1113829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6" name="Google Shape;4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37241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3"/>
          <p:cNvSpPr txBox="1"/>
          <p:nvPr/>
        </p:nvSpPr>
        <p:spPr>
          <a:xfrm>
            <a:off x="4371975" y="3717577"/>
            <a:ext cx="45434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https://miro.medium.com/v2/resize:fit:1400/1*rM_iP_jYQEVlfCZeXOaLZw.png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4371975" y="3963292"/>
            <a:ext cx="4543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461" name="Google Shape;461;p33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