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Orbitron"/>
      <p:regular r:id="rId18"/>
      <p:bold r:id="rId19"/>
    </p:embeddedFont>
    <p:embeddedFont>
      <p:font typeface="JetBrains Mon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JetBrainsMono-regular.fntdata"/><Relationship Id="rId11" Type="http://schemas.openxmlformats.org/officeDocument/2006/relationships/slide" Target="slides/slide6.xml"/><Relationship Id="rId22" Type="http://schemas.openxmlformats.org/officeDocument/2006/relationships/font" Target="fonts/JetBrainsMono-italic.fntdata"/><Relationship Id="rId10" Type="http://schemas.openxmlformats.org/officeDocument/2006/relationships/slide" Target="slides/slide5.xml"/><Relationship Id="rId21" Type="http://schemas.openxmlformats.org/officeDocument/2006/relationships/font" Target="fonts/JetBrainsMon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JetBrainsMon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Orbitron-bold.fntdata"/><Relationship Id="rId6" Type="http://schemas.openxmlformats.org/officeDocument/2006/relationships/slide" Target="slides/slide1.xml"/><Relationship Id="rId18" Type="http://schemas.openxmlformats.org/officeDocument/2006/relationships/font" Target="fonts/Orbitron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86ffafd5a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86ffafd5ab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86ffafd5ab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86ffafd5ab_0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86ffafd5a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86ffafd5ab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5.png"/><Relationship Id="rId5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3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14.png"/><Relationship Id="rId7" Type="http://schemas.openxmlformats.org/officeDocument/2006/relationships/image" Target="../media/image13.png"/><Relationship Id="rId8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9" Type="http://schemas.openxmlformats.org/officeDocument/2006/relationships/image" Target="../media/image20.png"/><Relationship Id="rId5" Type="http://schemas.openxmlformats.org/officeDocument/2006/relationships/image" Target="../media/image18.png"/><Relationship Id="rId6" Type="http://schemas.openxmlformats.org/officeDocument/2006/relationships/image" Target="../media/image17.png"/><Relationship Id="rId7" Type="http://schemas.openxmlformats.org/officeDocument/2006/relationships/image" Target="../media/image6.png"/><Relationship Id="rId8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11" Type="http://schemas.openxmlformats.org/officeDocument/2006/relationships/image" Target="../media/image22.png"/><Relationship Id="rId10" Type="http://schemas.openxmlformats.org/officeDocument/2006/relationships/image" Target="../media/image23.png"/><Relationship Id="rId9" Type="http://schemas.openxmlformats.org/officeDocument/2006/relationships/image" Target="../media/image21.png"/><Relationship Id="rId5" Type="http://schemas.openxmlformats.org/officeDocument/2006/relationships/image" Target="../media/image10.png"/><Relationship Id="rId6" Type="http://schemas.openxmlformats.org/officeDocument/2006/relationships/image" Target="../media/image8.png"/><Relationship Id="rId7" Type="http://schemas.openxmlformats.org/officeDocument/2006/relationships/image" Target="../media/image30.png"/><Relationship Id="rId8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11" Type="http://schemas.openxmlformats.org/officeDocument/2006/relationships/image" Target="../media/image22.png"/><Relationship Id="rId10" Type="http://schemas.openxmlformats.org/officeDocument/2006/relationships/image" Target="../media/image23.png"/><Relationship Id="rId12" Type="http://schemas.openxmlformats.org/officeDocument/2006/relationships/image" Target="../media/image37.png"/><Relationship Id="rId9" Type="http://schemas.openxmlformats.org/officeDocument/2006/relationships/image" Target="../media/image21.png"/><Relationship Id="rId5" Type="http://schemas.openxmlformats.org/officeDocument/2006/relationships/image" Target="../media/image10.png"/><Relationship Id="rId6" Type="http://schemas.openxmlformats.org/officeDocument/2006/relationships/image" Target="../media/image8.png"/><Relationship Id="rId7" Type="http://schemas.openxmlformats.org/officeDocument/2006/relationships/image" Target="../media/image30.png"/><Relationship Id="rId8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2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25.png"/><Relationship Id="rId5" Type="http://schemas.openxmlformats.org/officeDocument/2006/relationships/image" Target="../media/image34.png"/><Relationship Id="rId6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5.png"/><Relationship Id="rId4" Type="http://schemas.openxmlformats.org/officeDocument/2006/relationships/image" Target="../media/image26.png"/><Relationship Id="rId5" Type="http://schemas.openxmlformats.org/officeDocument/2006/relationships/image" Target="../media/image32.png"/><Relationship Id="rId6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8.png"/><Relationship Id="rId4" Type="http://schemas.openxmlformats.org/officeDocument/2006/relationships/image" Target="../media/image3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31.png"/><Relationship Id="rId5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550" y="6296025"/>
            <a:ext cx="110109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52912" y="4733925"/>
            <a:ext cx="3686175" cy="4095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/>
          <p:nvPr/>
        </p:nvSpPr>
        <p:spPr>
          <a:xfrm>
            <a:off x="19050" y="19050"/>
            <a:ext cx="12153900" cy="38100"/>
          </a:xfrm>
          <a:prstGeom prst="rect">
            <a:avLst/>
          </a:prstGeom>
          <a:solidFill>
            <a:srgbClr val="FF00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315277" y="1714500"/>
            <a:ext cx="11561445" cy="2152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⚡ AI CODE </a:t>
            </a:r>
            <a:r>
              <a:rPr b="1" i="0" lang="en-US" sz="6750" u="none" cap="none" strike="noStrike">
                <a:solidFill>
                  <a:srgbClr val="FF003C"/>
                </a:solidFill>
                <a:latin typeface="Orbitron"/>
                <a:ea typeface="Orbitron"/>
                <a:cs typeface="Orbitron"/>
                <a:sym typeface="Orbitron"/>
              </a:rPr>
              <a:t>ANALYZER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381375" y="3962400"/>
            <a:ext cx="54292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1A1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FULL-STACK INTELLIGENCE SYSTEM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90550" y="6400800"/>
            <a:ext cx="15335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PROJECT_ID: RED_OCTOBER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550" y="6296025"/>
            <a:ext cx="110109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52912" y="4733925"/>
            <a:ext cx="3686175" cy="4095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/>
          <p:nvPr/>
        </p:nvSpPr>
        <p:spPr>
          <a:xfrm>
            <a:off x="19050" y="19050"/>
            <a:ext cx="12153900" cy="38100"/>
          </a:xfrm>
          <a:prstGeom prst="rect">
            <a:avLst/>
          </a:prstGeom>
          <a:solidFill>
            <a:srgbClr val="FF00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315277" y="1714500"/>
            <a:ext cx="11561400" cy="10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⚡ AI CODE </a:t>
            </a:r>
            <a:r>
              <a:rPr b="1" i="0" lang="en-US" sz="6750" u="none" cap="none" strike="noStrike">
                <a:solidFill>
                  <a:srgbClr val="FF003C"/>
                </a:solidFill>
                <a:latin typeface="Orbitron"/>
                <a:ea typeface="Orbitron"/>
                <a:cs typeface="Orbitron"/>
                <a:sym typeface="Orbitron"/>
              </a:rPr>
              <a:t>ANALYZER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3381375" y="3962400"/>
            <a:ext cx="5429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1A1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FULL-STACK INTELLIGENCE SYSTEM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90550" y="6400800"/>
            <a:ext cx="153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PROJECT_ID: RED_OCTOBER</a:t>
            </a:r>
            <a:endParaRPr/>
          </a:p>
        </p:txBody>
      </p:sp>
      <p:pic>
        <p:nvPicPr>
          <p:cNvPr id="102" name="Google Shape;102;p14" title="Screenshot 2026-04-08 at 5.31.51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17012"/>
            <a:ext cx="12191999" cy="6823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590550" y="590550"/>
            <a:ext cx="11561445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003C"/>
                </a:solidFill>
                <a:latin typeface="Orbitron"/>
                <a:ea typeface="Orbitron"/>
                <a:cs typeface="Orbitron"/>
                <a:sym typeface="Orbitron"/>
              </a:rPr>
              <a:t>THE MISSION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590550" y="1085850"/>
            <a:ext cx="7610475" cy="9525"/>
          </a:xfrm>
          <a:prstGeom prst="rect">
            <a:avLst/>
          </a:prstGeom>
          <a:solidFill>
            <a:srgbClr val="FF00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938337"/>
            <a:ext cx="53149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/>
          <p:nvPr/>
        </p:nvSpPr>
        <p:spPr>
          <a:xfrm>
            <a:off x="590550" y="2081212"/>
            <a:ext cx="5314950" cy="942975"/>
          </a:xfrm>
          <a:prstGeom prst="rect">
            <a:avLst/>
          </a:prstGeom>
          <a:solidFill>
            <a:srgbClr val="FF00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590550" y="3138487"/>
            <a:ext cx="5314950" cy="723900"/>
          </a:xfrm>
          <a:prstGeom prst="rect">
            <a:avLst/>
          </a:prstGeom>
          <a:solidFill>
            <a:srgbClr val="FF00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590550" y="3976687"/>
            <a:ext cx="5314950" cy="723900"/>
          </a:xfrm>
          <a:prstGeom prst="rect">
            <a:avLst/>
          </a:prstGeom>
          <a:solidFill>
            <a:srgbClr val="FF00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590550" y="4814887"/>
            <a:ext cx="5314950" cy="723900"/>
          </a:xfrm>
          <a:prstGeom prst="rect">
            <a:avLst/>
          </a:prstGeom>
          <a:solidFill>
            <a:srgbClr val="FF00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590550" y="2081212"/>
            <a:ext cx="28575" cy="942975"/>
          </a:xfrm>
          <a:prstGeom prst="rect">
            <a:avLst/>
          </a:prstGeom>
          <a:solidFill>
            <a:srgbClr val="FF00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1123950" y="2224087"/>
            <a:ext cx="459105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Eliminate Technical Debt:</a:t>
            </a:r>
            <a:r>
              <a:rPr b="0" i="0" lang="en-US" sz="13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Real-time semantic analysis to catch architectural flaws.</a:t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590550" y="3138487"/>
            <a:ext cx="28575" cy="723900"/>
          </a:xfrm>
          <a:prstGeom prst="rect">
            <a:avLst/>
          </a:prstGeom>
          <a:solidFill>
            <a:srgbClr val="FF00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1123950" y="3281362"/>
            <a:ext cx="45910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Security Hardening:</a:t>
            </a:r>
            <a:r>
              <a:rPr b="0" i="0" lang="en-US" sz="13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Automatic detection of vulnerabilities in 15+ languages.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590550" y="3976687"/>
            <a:ext cx="28575" cy="723900"/>
          </a:xfrm>
          <a:prstGeom prst="rect">
            <a:avLst/>
          </a:prstGeom>
          <a:solidFill>
            <a:srgbClr val="FF00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1143000" y="4119562"/>
            <a:ext cx="4572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Vision-Powered:</a:t>
            </a:r>
            <a:r>
              <a:rPr b="0" i="0" lang="en-US" sz="13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Extract and analyze code directly from IDE screenshots.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590550" y="4814887"/>
            <a:ext cx="28575" cy="723900"/>
          </a:xfrm>
          <a:prstGeom prst="rect">
            <a:avLst/>
          </a:prstGeom>
          <a:solidFill>
            <a:srgbClr val="FF00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1106537" y="4957762"/>
            <a:ext cx="460846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Decision Support:</a:t>
            </a:r>
            <a:r>
              <a:rPr b="0" i="0" lang="en-US" sz="13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AI-driven "Should Push" metrics for Git workflows.</a:t>
            </a:r>
            <a:endParaRPr/>
          </a:p>
        </p:txBody>
      </p:sp>
      <p:pic>
        <p:nvPicPr>
          <p:cNvPr descr="image.png" id="123" name="Google Shape;12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" y="246221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" y="340995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9625" y="4248150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9625" y="5086350"/>
            <a:ext cx="15240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550" y="1847850"/>
            <a:ext cx="35433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4350" y="1847850"/>
            <a:ext cx="35433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58150" y="1847850"/>
            <a:ext cx="35433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590550" y="590550"/>
            <a:ext cx="11561445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003C"/>
                </a:solidFill>
                <a:latin typeface="Orbitron"/>
                <a:ea typeface="Orbitron"/>
                <a:cs typeface="Orbitron"/>
                <a:sym typeface="Orbitron"/>
              </a:rPr>
              <a:t>SYSTEM NUCLEUS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590550" y="1085850"/>
            <a:ext cx="6134100" cy="9525"/>
          </a:xfrm>
          <a:prstGeom prst="rect">
            <a:avLst/>
          </a:prstGeom>
          <a:solidFill>
            <a:srgbClr val="FF00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590550" y="4133850"/>
            <a:ext cx="110109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00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OS: macOS 13+ (Silicon Optimized) // DB: SQLite // VISION: LLaVA</a:t>
            </a:r>
            <a:endParaRPr/>
          </a:p>
        </p:txBody>
      </p:sp>
      <p:pic>
        <p:nvPicPr>
          <p:cNvPr descr="image.png" id="138" name="Google Shape;13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24075" y="20478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711993" y="2714625"/>
            <a:ext cx="33004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VITE FRONTEND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790575" y="3038475"/>
            <a:ext cx="3143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1A1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High-speed React interface with Black/Red Cyberpunk UI &amp; Radar Charts.</a:t>
            </a:r>
            <a:endParaRPr/>
          </a:p>
        </p:txBody>
      </p:sp>
      <p:pic>
        <p:nvPicPr>
          <p:cNvPr descr="image.png" id="141" name="Google Shape;14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86450" y="2047875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4445793" y="2714625"/>
            <a:ext cx="33004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FASTAPI BACKEND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4524375" y="3038475"/>
            <a:ext cx="3143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1A1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Async Python engine handling Risk Scoring, SQLite logging, and AI orchestration.</a:t>
            </a:r>
            <a:endParaRPr/>
          </a:p>
        </p:txBody>
      </p:sp>
      <p:pic>
        <p:nvPicPr>
          <p:cNvPr descr="image.png" id="144" name="Google Shape;144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91675" y="20478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8179593" y="2714625"/>
            <a:ext cx="33004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OLLAMA ENGINE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8258175" y="3038475"/>
            <a:ext cx="3143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1A1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Local LLM hosting: DeepSeek-Coder-6.7B &amp; Qwen2.5-Coder-7B.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27150" y="2481262"/>
            <a:ext cx="190500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27150" y="3567112"/>
            <a:ext cx="190500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27150" y="4652962"/>
            <a:ext cx="190500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59551" y="2481262"/>
            <a:ext cx="190500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59551" y="3567112"/>
            <a:ext cx="190500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59551" y="4652962"/>
            <a:ext cx="1905000" cy="600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590550" y="590550"/>
            <a:ext cx="11561445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003C"/>
                </a:solidFill>
                <a:latin typeface="Orbitron"/>
                <a:ea typeface="Orbitron"/>
                <a:cs typeface="Orbitron"/>
                <a:sym typeface="Orbitron"/>
              </a:rPr>
              <a:t>DATA TRAJECTORY</a:t>
            </a:r>
            <a:endParaRPr/>
          </a:p>
        </p:txBody>
      </p:sp>
      <p:sp>
        <p:nvSpPr>
          <p:cNvPr id="159" name="Google Shape;159;p17"/>
          <p:cNvSpPr/>
          <p:nvPr/>
        </p:nvSpPr>
        <p:spPr>
          <a:xfrm>
            <a:off x="590550" y="1085850"/>
            <a:ext cx="5838825" cy="9525"/>
          </a:xfrm>
          <a:prstGeom prst="rect">
            <a:avLst/>
          </a:prstGeom>
          <a:solidFill>
            <a:srgbClr val="FF00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0" name="Google Shape;160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905351" y="36718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593925" y="3205162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593925" y="4291012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426326" y="3205162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426326" y="4291012"/>
            <a:ext cx="17145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27150" y="2481262"/>
            <a:ext cx="190500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27150" y="3567112"/>
            <a:ext cx="190500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27150" y="4652962"/>
            <a:ext cx="190500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59551" y="2481262"/>
            <a:ext cx="190500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59551" y="3567112"/>
            <a:ext cx="190500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59551" y="4652962"/>
            <a:ext cx="1905000" cy="600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 txBox="1"/>
          <p:nvPr/>
        </p:nvSpPr>
        <p:spPr>
          <a:xfrm>
            <a:off x="590550" y="590550"/>
            <a:ext cx="11561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003C"/>
                </a:solidFill>
                <a:latin typeface="Orbitron"/>
                <a:ea typeface="Orbitron"/>
                <a:cs typeface="Orbitron"/>
                <a:sym typeface="Orbitron"/>
              </a:rPr>
              <a:t>DATA TRAJECTORY</a:t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590550" y="1085850"/>
            <a:ext cx="5838900" cy="9600"/>
          </a:xfrm>
          <a:prstGeom prst="rect">
            <a:avLst/>
          </a:prstGeom>
          <a:solidFill>
            <a:srgbClr val="FF00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8" name="Google Shape;178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905351" y="36718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593925" y="3205162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593925" y="4291012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426326" y="3205162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426326" y="4291012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8" title="Screenshot 2026-04-08 at 5.37.26 PM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0" y="16255"/>
            <a:ext cx="12192000" cy="6825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9"/>
          <p:cNvSpPr txBox="1"/>
          <p:nvPr/>
        </p:nvSpPr>
        <p:spPr>
          <a:xfrm>
            <a:off x="590550" y="590550"/>
            <a:ext cx="11561445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003C"/>
                </a:solidFill>
                <a:latin typeface="Orbitron"/>
                <a:ea typeface="Orbitron"/>
                <a:cs typeface="Orbitron"/>
                <a:sym typeface="Orbitron"/>
              </a:rPr>
              <a:t>METRIC DASHBOARD</a:t>
            </a:r>
            <a:endParaRPr/>
          </a:p>
        </p:txBody>
      </p:sp>
      <p:sp>
        <p:nvSpPr>
          <p:cNvPr id="190" name="Google Shape;190;p19"/>
          <p:cNvSpPr/>
          <p:nvPr/>
        </p:nvSpPr>
        <p:spPr>
          <a:xfrm>
            <a:off x="590550" y="1085850"/>
            <a:ext cx="5600700" cy="9525"/>
          </a:xfrm>
          <a:prstGeom prst="rect">
            <a:avLst/>
          </a:prstGeom>
          <a:solidFill>
            <a:srgbClr val="FF00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1" name="Google Shape;19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550" y="2114550"/>
            <a:ext cx="5314950" cy="345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9"/>
          <p:cNvSpPr txBox="1"/>
          <p:nvPr/>
        </p:nvSpPr>
        <p:spPr>
          <a:xfrm>
            <a:off x="6181725" y="2166937"/>
            <a:ext cx="1047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•</a:t>
            </a:r>
            <a:endParaRPr/>
          </a:p>
        </p:txBody>
      </p:sp>
      <p:sp>
        <p:nvSpPr>
          <p:cNvPr id="193" name="Google Shape;193;p19"/>
          <p:cNvSpPr/>
          <p:nvPr/>
        </p:nvSpPr>
        <p:spPr>
          <a:xfrm>
            <a:off x="6286500" y="2190750"/>
            <a:ext cx="5314950" cy="723900"/>
          </a:xfrm>
          <a:prstGeom prst="rect">
            <a:avLst/>
          </a:prstGeom>
          <a:solidFill>
            <a:srgbClr val="FF00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 txBox="1"/>
          <p:nvPr/>
        </p:nvSpPr>
        <p:spPr>
          <a:xfrm>
            <a:off x="6477000" y="2333625"/>
            <a:ext cx="49339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47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Risk Score (0-100):</a:t>
            </a:r>
            <a:r>
              <a:rPr b="0" i="0" lang="en-US" sz="13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Classifies code from Safe to Critical.</a:t>
            </a:r>
            <a:endParaRPr/>
          </a:p>
        </p:txBody>
      </p:sp>
      <p:sp>
        <p:nvSpPr>
          <p:cNvPr id="195" name="Google Shape;195;p19"/>
          <p:cNvSpPr/>
          <p:nvPr/>
        </p:nvSpPr>
        <p:spPr>
          <a:xfrm>
            <a:off x="6286500" y="2190750"/>
            <a:ext cx="28575" cy="723900"/>
          </a:xfrm>
          <a:prstGeom prst="rect">
            <a:avLst/>
          </a:prstGeom>
          <a:solidFill>
            <a:srgbClr val="FF00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 txBox="1"/>
          <p:nvPr/>
        </p:nvSpPr>
        <p:spPr>
          <a:xfrm>
            <a:off x="6181725" y="3005137"/>
            <a:ext cx="1047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•</a:t>
            </a:r>
            <a:endParaRPr/>
          </a:p>
        </p:txBody>
      </p:sp>
      <p:sp>
        <p:nvSpPr>
          <p:cNvPr id="197" name="Google Shape;197;p19"/>
          <p:cNvSpPr/>
          <p:nvPr/>
        </p:nvSpPr>
        <p:spPr>
          <a:xfrm>
            <a:off x="6286500" y="3028950"/>
            <a:ext cx="5314950" cy="723900"/>
          </a:xfrm>
          <a:prstGeom prst="rect">
            <a:avLst/>
          </a:prstGeom>
          <a:solidFill>
            <a:srgbClr val="FF00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 txBox="1"/>
          <p:nvPr/>
        </p:nvSpPr>
        <p:spPr>
          <a:xfrm>
            <a:off x="6477000" y="3171825"/>
            <a:ext cx="49339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47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Radar Charts:</a:t>
            </a:r>
            <a:r>
              <a:rPr b="0" i="0" lang="en-US" sz="13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5-point analysis (Security, Performance, etc.)</a:t>
            </a:r>
            <a:endParaRPr/>
          </a:p>
        </p:txBody>
      </p:sp>
      <p:sp>
        <p:nvSpPr>
          <p:cNvPr id="199" name="Google Shape;199;p19"/>
          <p:cNvSpPr/>
          <p:nvPr/>
        </p:nvSpPr>
        <p:spPr>
          <a:xfrm>
            <a:off x="6286500" y="3028950"/>
            <a:ext cx="28575" cy="723900"/>
          </a:xfrm>
          <a:prstGeom prst="rect">
            <a:avLst/>
          </a:prstGeom>
          <a:solidFill>
            <a:srgbClr val="FF00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 txBox="1"/>
          <p:nvPr/>
        </p:nvSpPr>
        <p:spPr>
          <a:xfrm>
            <a:off x="6181725" y="3843337"/>
            <a:ext cx="1047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•</a:t>
            </a:r>
            <a:endParaRPr/>
          </a:p>
        </p:txBody>
      </p:sp>
      <p:sp>
        <p:nvSpPr>
          <p:cNvPr id="201" name="Google Shape;201;p19"/>
          <p:cNvSpPr/>
          <p:nvPr/>
        </p:nvSpPr>
        <p:spPr>
          <a:xfrm>
            <a:off x="6286500" y="3867150"/>
            <a:ext cx="5314950" cy="723900"/>
          </a:xfrm>
          <a:prstGeom prst="rect">
            <a:avLst/>
          </a:prstGeom>
          <a:solidFill>
            <a:srgbClr val="FF00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 txBox="1"/>
          <p:nvPr/>
        </p:nvSpPr>
        <p:spPr>
          <a:xfrm>
            <a:off x="6477000" y="4010025"/>
            <a:ext cx="49339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47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Semantic Diff:</a:t>
            </a:r>
            <a:r>
              <a:rPr b="0" i="0" lang="en-US" sz="13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Visual Red/Green side-by-side refactoring.</a:t>
            </a:r>
            <a:endParaRPr/>
          </a:p>
        </p:txBody>
      </p:sp>
      <p:sp>
        <p:nvSpPr>
          <p:cNvPr id="203" name="Google Shape;203;p19"/>
          <p:cNvSpPr/>
          <p:nvPr/>
        </p:nvSpPr>
        <p:spPr>
          <a:xfrm>
            <a:off x="6286500" y="3867150"/>
            <a:ext cx="28575" cy="723900"/>
          </a:xfrm>
          <a:prstGeom prst="rect">
            <a:avLst/>
          </a:prstGeom>
          <a:solidFill>
            <a:srgbClr val="FF00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 txBox="1"/>
          <p:nvPr/>
        </p:nvSpPr>
        <p:spPr>
          <a:xfrm>
            <a:off x="6181725" y="4681537"/>
            <a:ext cx="1047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•</a:t>
            </a:r>
            <a:endParaRPr/>
          </a:p>
        </p:txBody>
      </p:sp>
      <p:sp>
        <p:nvSpPr>
          <p:cNvPr id="205" name="Google Shape;205;p19"/>
          <p:cNvSpPr/>
          <p:nvPr/>
        </p:nvSpPr>
        <p:spPr>
          <a:xfrm>
            <a:off x="6286500" y="4705350"/>
            <a:ext cx="5314950" cy="723900"/>
          </a:xfrm>
          <a:prstGeom prst="rect">
            <a:avLst/>
          </a:prstGeom>
          <a:solidFill>
            <a:srgbClr val="FF00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6477000" y="4848225"/>
            <a:ext cx="49339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47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History Replay:</a:t>
            </a:r>
            <a:r>
              <a:rPr b="0" i="0" lang="en-US" sz="13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Track risk trends across all sessions.</a:t>
            </a:r>
            <a:endParaRPr/>
          </a:p>
        </p:txBody>
      </p:sp>
      <p:sp>
        <p:nvSpPr>
          <p:cNvPr id="207" name="Google Shape;207;p19"/>
          <p:cNvSpPr/>
          <p:nvPr/>
        </p:nvSpPr>
        <p:spPr>
          <a:xfrm>
            <a:off x="6286500" y="4705350"/>
            <a:ext cx="28575" cy="723900"/>
          </a:xfrm>
          <a:prstGeom prst="rect">
            <a:avLst/>
          </a:prstGeom>
          <a:solidFill>
            <a:srgbClr val="FF00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2" name="Google Shape;21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550" y="2519362"/>
            <a:ext cx="5314950" cy="269557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0"/>
          <p:cNvSpPr txBox="1"/>
          <p:nvPr/>
        </p:nvSpPr>
        <p:spPr>
          <a:xfrm>
            <a:off x="590550" y="590550"/>
            <a:ext cx="11561445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003C"/>
                </a:solidFill>
                <a:latin typeface="Orbitron"/>
                <a:ea typeface="Orbitron"/>
                <a:cs typeface="Orbitron"/>
                <a:sym typeface="Orbitron"/>
              </a:rPr>
              <a:t>OLLAMA INTEGRATION</a:t>
            </a:r>
            <a:endParaRPr/>
          </a:p>
        </p:txBody>
      </p:sp>
      <p:sp>
        <p:nvSpPr>
          <p:cNvPr id="215" name="Google Shape;215;p20"/>
          <p:cNvSpPr/>
          <p:nvPr/>
        </p:nvSpPr>
        <p:spPr>
          <a:xfrm>
            <a:off x="590550" y="1085850"/>
            <a:ext cx="5219700" cy="9525"/>
          </a:xfrm>
          <a:prstGeom prst="rect">
            <a:avLst/>
          </a:prstGeom>
          <a:solidFill>
            <a:srgbClr val="FF00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885825" y="2814637"/>
            <a:ext cx="49606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MODEL HIERARCHY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885825" y="3233737"/>
            <a:ext cx="4724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FF4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 ollama pull deepseek-coder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885825" y="3529012"/>
            <a:ext cx="4724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Target: 6.7B Model - Optimized for macOS performance.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885825" y="3843337"/>
            <a:ext cx="4724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B8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 ollama pull qwen2.5-coder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885825" y="4138612"/>
            <a:ext cx="4724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Target: 7B Model - Multilingual semantic expert.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885825" y="4452937"/>
            <a:ext cx="4724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 ollama pull llava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885825" y="4748212"/>
            <a:ext cx="4724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Target: Vision Support - Screenshots extraction.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6286500" y="3467100"/>
            <a:ext cx="53149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Offline Fallback:</a:t>
            </a:r>
            <a:r>
              <a:rPr b="0" i="0" lang="en-US" sz="12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Static analysis triggers if Ollama server is unreachable.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6286500" y="3867150"/>
            <a:ext cx="53149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Apple Silicon:</a:t>
            </a:r>
            <a:r>
              <a:rPr b="0" i="0" lang="en-US" sz="12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Leverages Metal acceleration for instant code feedback.</a:t>
            </a:r>
            <a:endParaRPr/>
          </a:p>
        </p:txBody>
      </p:sp>
      <p:pic>
        <p:nvPicPr>
          <p:cNvPr descr="image.png" id="225" name="Google Shape;22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348615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3886200"/>
            <a:ext cx="1524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550" y="1943100"/>
            <a:ext cx="354330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4350" y="1943100"/>
            <a:ext cx="354330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58150" y="1943100"/>
            <a:ext cx="354330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1"/>
          <p:cNvSpPr txBox="1"/>
          <p:nvPr/>
        </p:nvSpPr>
        <p:spPr>
          <a:xfrm>
            <a:off x="590550" y="590550"/>
            <a:ext cx="11561445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003C"/>
                </a:solidFill>
                <a:latin typeface="Orbitron"/>
                <a:ea typeface="Orbitron"/>
                <a:cs typeface="Orbitron"/>
                <a:sym typeface="Orbitron"/>
              </a:rPr>
              <a:t>FUTURE UPGRADES</a:t>
            </a:r>
            <a:endParaRPr/>
          </a:p>
        </p:txBody>
      </p:sp>
      <p:sp>
        <p:nvSpPr>
          <p:cNvPr id="236" name="Google Shape;236;p21"/>
          <p:cNvSpPr/>
          <p:nvPr/>
        </p:nvSpPr>
        <p:spPr>
          <a:xfrm>
            <a:off x="590550" y="1085850"/>
            <a:ext cx="5848350" cy="9525"/>
          </a:xfrm>
          <a:prstGeom prst="rect">
            <a:avLst/>
          </a:prstGeom>
          <a:solidFill>
            <a:srgbClr val="FF00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711993" y="2143125"/>
            <a:ext cx="33004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003C"/>
                </a:solidFill>
                <a:latin typeface="Orbitron"/>
                <a:ea typeface="Orbitron"/>
                <a:cs typeface="Orbitron"/>
                <a:sym typeface="Orbitron"/>
              </a:rPr>
              <a:t>PHASE 1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790575" y="2371725"/>
            <a:ext cx="3143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Direct IDE Integration (VS Code / JetBrains Plugins)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4445793" y="2143125"/>
            <a:ext cx="33004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003C"/>
                </a:solidFill>
                <a:latin typeface="Orbitron"/>
                <a:ea typeface="Orbitron"/>
                <a:cs typeface="Orbitron"/>
                <a:sym typeface="Orbitron"/>
              </a:rPr>
              <a:t>PHASE 2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4524375" y="2371725"/>
            <a:ext cx="3143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Multi-modal Chat Interface for deeper refactor Q&amp;A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8179593" y="2143125"/>
            <a:ext cx="33004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003C"/>
                </a:solidFill>
                <a:latin typeface="Orbitron"/>
                <a:ea typeface="Orbitron"/>
                <a:cs typeface="Orbitron"/>
                <a:sym typeface="Orbitron"/>
              </a:rPr>
              <a:t>PHASE 3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8258175" y="2371725"/>
            <a:ext cx="3143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Team Collaboration &amp; Shared SQLite Cloud Sync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7" name="Google Shape;24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872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2" title="Screenshot 2026-04-08 at 5.29.59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1345"/>
            <a:ext cx="12191998" cy="67953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3" name="Google Shape;25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3"/>
          <p:cNvSpPr txBox="1"/>
          <p:nvPr/>
        </p:nvSpPr>
        <p:spPr>
          <a:xfrm>
            <a:off x="2135505" y="2062162"/>
            <a:ext cx="792099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003C"/>
                </a:solidFill>
                <a:latin typeface="Orbitron"/>
                <a:ea typeface="Orbitron"/>
                <a:cs typeface="Orbitron"/>
                <a:sym typeface="Orbitron"/>
              </a:rPr>
              <a:t>TERMINATED</a:t>
            </a:r>
            <a:r>
              <a:rPr b="1" i="0" lang="en-US" sz="6000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_01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4495800" y="3205162"/>
            <a:ext cx="320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1A1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0" name="Google Shape;26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4"/>
          <p:cNvSpPr txBox="1"/>
          <p:nvPr/>
        </p:nvSpPr>
        <p:spPr>
          <a:xfrm>
            <a:off x="590550" y="590550"/>
            <a:ext cx="11561445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003C"/>
                </a:solidFill>
                <a:latin typeface="Orbitron"/>
                <a:ea typeface="Orbitron"/>
                <a:cs typeface="Orbitron"/>
                <a:sym typeface="Orbitron"/>
              </a:rPr>
              <a:t>IMAGE SOURCES</a:t>
            </a:r>
            <a:endParaRPr/>
          </a:p>
        </p:txBody>
      </p:sp>
      <p:sp>
        <p:nvSpPr>
          <p:cNvPr id="262" name="Google Shape;262;p24"/>
          <p:cNvSpPr/>
          <p:nvPr/>
        </p:nvSpPr>
        <p:spPr>
          <a:xfrm>
            <a:off x="590550" y="1085850"/>
            <a:ext cx="6715125" cy="9525"/>
          </a:xfrm>
          <a:prstGeom prst="rect">
            <a:avLst/>
          </a:prstGeom>
          <a:solidFill>
            <a:srgbClr val="FF00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4"/>
          <p:cNvSpPr/>
          <p:nvPr/>
        </p:nvSpPr>
        <p:spPr>
          <a:xfrm>
            <a:off x="590550" y="1466850"/>
            <a:ext cx="110109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4"/>
          <p:cNvSpPr/>
          <p:nvPr/>
        </p:nvSpPr>
        <p:spPr>
          <a:xfrm>
            <a:off x="590550" y="2228850"/>
            <a:ext cx="110109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4"/>
          <p:cNvSpPr/>
          <p:nvPr/>
        </p:nvSpPr>
        <p:spPr>
          <a:xfrm>
            <a:off x="590550" y="2228850"/>
            <a:ext cx="110109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6" name="Google Shape;26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550" y="16097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4"/>
          <p:cNvSpPr txBox="1"/>
          <p:nvPr/>
        </p:nvSpPr>
        <p:spPr>
          <a:xfrm>
            <a:off x="1685925" y="1643062"/>
            <a:ext cx="99155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https://www.softwareseni.com/wp-content/uploads/2025/08/header_image_CSW202508111258.png</a:t>
            </a:r>
            <a:endParaRPr/>
          </a:p>
        </p:txBody>
      </p:sp>
      <p:sp>
        <p:nvSpPr>
          <p:cNvPr id="268" name="Google Shape;268;p24"/>
          <p:cNvSpPr txBox="1"/>
          <p:nvPr/>
        </p:nvSpPr>
        <p:spPr>
          <a:xfrm>
            <a:off x="1685925" y="1852612"/>
            <a:ext cx="99155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www.softwareseni.com</a:t>
            </a:r>
            <a:endParaRPr/>
          </a:p>
        </p:txBody>
      </p:sp>
      <p:pic>
        <p:nvPicPr>
          <p:cNvPr descr="image.png" id="269" name="Google Shape;26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550" y="23812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4"/>
          <p:cNvSpPr txBox="1"/>
          <p:nvPr/>
        </p:nvSpPr>
        <p:spPr>
          <a:xfrm>
            <a:off x="1685925" y="2414587"/>
            <a:ext cx="99155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https://acropolium.com/img/articles/modern-web-app-architecture/img02.jpg</a:t>
            </a:r>
            <a:endParaRPr/>
          </a:p>
        </p:txBody>
      </p:sp>
      <p:sp>
        <p:nvSpPr>
          <p:cNvPr id="271" name="Google Shape;271;p24"/>
          <p:cNvSpPr txBox="1"/>
          <p:nvPr/>
        </p:nvSpPr>
        <p:spPr>
          <a:xfrm>
            <a:off x="1685925" y="2624137"/>
            <a:ext cx="99155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acropolium.com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