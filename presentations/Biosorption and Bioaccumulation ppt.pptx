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12192000"/>
  <p:notesSz cx="6858000" cy="9144000"/>
  <p:embeddedFontLst>
    <p:embeddedFont>
      <p:font typeface="Limelight"/>
      <p:regular r:id="rId26"/>
    </p:embeddedFont>
    <p:embeddedFont>
      <p:font typeface="Arial Black"/>
      <p:regular r:id="rId27"/>
    </p:embeddedFont>
    <p:embeddedFont>
      <p:font typeface="Gill Sans"/>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http://customooxmlschemas.google.com/">
      <go:slidesCustomData xmlns:go="http://customooxmlschemas.google.com/" r:id="rId29" roundtripDataSignature="AMtx7miMOkV3X+90PgqrHHrHv9zo84U6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DE84C5B-F191-48F3-B5E9-8B4420F79BE8}">
  <a:tblStyle styleId="{0DE84C5B-F191-48F3-B5E9-8B4420F79BE8}"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E7F1FA"/>
          </a:solidFill>
        </a:fill>
      </a:tcStyle>
    </a:wholeTbl>
    <a:band1H>
      <a:tcTxStyle/>
      <a:tcStyle>
        <a:fill>
          <a:solidFill>
            <a:srgbClr val="CBE2F5"/>
          </a:solidFill>
        </a:fill>
      </a:tcStyle>
    </a:band1H>
    <a:band2H>
      <a:tcTxStyle/>
    </a:band2H>
    <a:band1V>
      <a:tcTxStyle/>
      <a:tcStyle>
        <a:fill>
          <a:solidFill>
            <a:srgbClr val="CBE2F5"/>
          </a:solidFill>
        </a:fill>
      </a:tcStyle>
    </a:band1V>
    <a:band2V>
      <a:tcTxStyle/>
    </a:band2V>
    <a:lastCol>
      <a:tcTxStyle b="on" i="off"/>
    </a:lastCol>
    <a:firstCol>
      <a:tcTxStyle b="on" i="off"/>
    </a:firstCol>
    <a:lastRow>
      <a:tcTxStyle b="on" i="off"/>
      <a:tcStyle>
        <a:tcBdr>
          <a:top>
            <a:ln cap="flat" cmpd="sng" w="50800">
              <a:solidFill>
                <a:schemeClr val="dk1"/>
              </a:solidFill>
              <a:prstDash val="solid"/>
              <a:round/>
              <a:headEnd len="sm" w="sm" type="none"/>
              <a:tailEnd len="sm" w="sm" type="none"/>
            </a:ln>
          </a:top>
        </a:tcBdr>
        <a:fill>
          <a:solidFill>
            <a:srgbClr val="E7F1FA"/>
          </a:solidFill>
        </a:fill>
      </a:tcStyle>
    </a:lastRow>
    <a:seCell>
      <a:tcTxStyle/>
    </a:seCell>
    <a:swCell>
      <a:tcTxStyle/>
    </a:swCell>
    <a:firstRow>
      <a:tcTxStyle b="on" i="off">
        <a:font>
          <a:latin typeface="Calibri"/>
          <a:ea typeface="Calibri"/>
          <a:cs typeface="Calibri"/>
        </a:font>
        <a:schemeClr val="lt1"/>
      </a:tcTxStyle>
      <a:tcStyle>
        <a:fill>
          <a:solidFill>
            <a:schemeClr val="accent2"/>
          </a:solidFill>
        </a:fill>
      </a:tcStyle>
    </a:firstRow>
    <a:neCell>
      <a:tcTxStyle/>
    </a:neCell>
    <a:nwCell>
      <a:tcTxStyle/>
    </a:nwCell>
  </a:tblStyle>
  <a:tblStyle styleId="{224BCD85-2E57-4E2F-9988-8FE7A55A92FD}" styleName="Table_1">
    <a:wholeTbl>
      <a:tcTxStyle b="off" i="off">
        <a:font>
          <a:latin typeface="Calibri"/>
          <a:ea typeface="Calibri"/>
          <a:cs typeface="Calibri"/>
        </a:font>
        <a:schemeClr val="dk1"/>
      </a:tcTxStyle>
      <a:tcStyle>
        <a:tcBdr>
          <a:left>
            <a:ln cap="flat" cmpd="sng" w="12700">
              <a:solidFill>
                <a:schemeClr val="accent3"/>
              </a:solidFill>
              <a:prstDash val="solid"/>
              <a:round/>
              <a:headEnd len="sm" w="sm" type="none"/>
              <a:tailEnd len="sm" w="sm" type="none"/>
            </a:ln>
          </a:left>
          <a:right>
            <a:ln cap="flat" cmpd="sng" w="12700">
              <a:solidFill>
                <a:schemeClr val="accent3"/>
              </a:solidFill>
              <a:prstDash val="solid"/>
              <a:round/>
              <a:headEnd len="sm" w="sm" type="none"/>
              <a:tailEnd len="sm" w="sm" type="none"/>
            </a:ln>
          </a:right>
          <a:top>
            <a:ln cap="flat" cmpd="sng" w="12700">
              <a:solidFill>
                <a:schemeClr val="accent3"/>
              </a:solidFill>
              <a:prstDash val="solid"/>
              <a:round/>
              <a:headEnd len="sm" w="sm" type="none"/>
              <a:tailEnd len="sm" w="sm" type="none"/>
            </a:ln>
          </a:top>
          <a:bottom>
            <a:ln cap="flat" cmpd="sng" w="12700">
              <a:solidFill>
                <a:schemeClr val="accent3"/>
              </a:solidFill>
              <a:prstDash val="solid"/>
              <a:round/>
              <a:headEnd len="sm" w="sm" type="none"/>
              <a:tailEnd len="sm" w="sm" type="none"/>
            </a:ln>
          </a:bottom>
          <a:insideH>
            <a:ln cap="flat" cmpd="sng" w="12700">
              <a:solidFill>
                <a:schemeClr val="accent3"/>
              </a:solidFill>
              <a:prstDash val="solid"/>
              <a:round/>
              <a:headEnd len="sm" w="sm" type="none"/>
              <a:tailEnd len="sm" w="sm" type="none"/>
            </a:ln>
          </a:insideH>
          <a:insideV>
            <a:ln cap="flat" cmpd="sng" w="12700">
              <a:solidFill>
                <a:schemeClr val="accent3"/>
              </a:solidFill>
              <a:prstDash val="solid"/>
              <a:round/>
              <a:headEnd len="sm" w="sm" type="none"/>
              <a:tailEnd len="sm" w="sm" type="none"/>
            </a:ln>
          </a:insideV>
        </a:tcBdr>
        <a:fill>
          <a:solidFill>
            <a:srgbClr val="E7F5F6"/>
          </a:solidFill>
        </a:fill>
      </a:tcStyle>
    </a:wholeTbl>
    <a:band1H>
      <a:tcTxStyle/>
      <a:tcStyle>
        <a:fill>
          <a:solidFill>
            <a:srgbClr val="CBEAEC"/>
          </a:solidFill>
        </a:fill>
      </a:tcStyle>
    </a:band1H>
    <a:band2H>
      <a:tcTxStyle/>
    </a:band2H>
    <a:band1V>
      <a:tcTxStyle/>
      <a:tcStyle>
        <a:fill>
          <a:solidFill>
            <a:srgbClr val="CBEAEC"/>
          </a:solidFill>
        </a:fill>
      </a:tcStyle>
    </a:band1V>
    <a:band2V>
      <a:tcTxStyle/>
    </a:band2V>
    <a:lastCol>
      <a:tcTxStyle b="on" i="off"/>
    </a:lastCol>
    <a:firstCol>
      <a:tcTxStyle b="on" i="off"/>
    </a:firstCol>
    <a:lastRow>
      <a:tcTxStyle b="on" i="off"/>
      <a:tcStyle>
        <a:tcBdr>
          <a:top>
            <a:ln cap="flat" cmpd="sng" w="25400">
              <a:solidFill>
                <a:schemeClr val="accent3"/>
              </a:solidFill>
              <a:prstDash val="solid"/>
              <a:round/>
              <a:headEnd len="sm" w="sm" type="none"/>
              <a:tailEnd len="sm" w="sm" type="none"/>
            </a:ln>
          </a:top>
        </a:tcBdr>
        <a:fill>
          <a:solidFill>
            <a:srgbClr val="E7F5F6"/>
          </a:solidFill>
        </a:fill>
      </a:tcStyle>
    </a:lastRow>
    <a:seCell>
      <a:tcTxStyle/>
    </a:seCell>
    <a:swCell>
      <a:tcTxStyle/>
    </a:swCell>
    <a:firstRow>
      <a:tcTxStyle b="on" i="off"/>
      <a:tcStyle>
        <a:fill>
          <a:solidFill>
            <a:srgbClr val="E7F5F6"/>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imelight-regular.fntdata"/><Relationship Id="rId25" Type="http://schemas.openxmlformats.org/officeDocument/2006/relationships/slide" Target="slides/slide19.xml"/><Relationship Id="rId28" Type="http://schemas.openxmlformats.org/officeDocument/2006/relationships/font" Target="fonts/GillSans-bold.fntdata"/><Relationship Id="rId27" Type="http://schemas.openxmlformats.org/officeDocument/2006/relationships/font" Target="fonts/ArialBlack-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21"/>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1"/>
          <p:cNvSpPr/>
          <p:nvPr/>
        </p:nvSpPr>
        <p:spPr>
          <a:xfrm>
            <a:off x="1" y="6334316"/>
            <a:ext cx="12192000" cy="6648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1"/>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1"/>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2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6" name="Google Shape;26;p21"/>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2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2"/>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0" name="Google Shape;30;p2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33" name="Shape 33"/>
        <p:cNvGrpSpPr/>
        <p:nvPr/>
      </p:nvGrpSpPr>
      <p:grpSpPr>
        <a:xfrm>
          <a:off x="0" y="0"/>
          <a:ext cx="0" cy="0"/>
          <a:chOff x="0" y="0"/>
          <a:chExt cx="0" cy="0"/>
        </a:xfrm>
      </p:grpSpPr>
      <p:sp>
        <p:nvSpPr>
          <p:cNvPr id="34" name="Google Shape;34;p23"/>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3"/>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39" name="Shape 39"/>
        <p:cNvGrpSpPr/>
        <p:nvPr/>
      </p:nvGrpSpPr>
      <p:grpSpPr>
        <a:xfrm>
          <a:off x="0" y="0"/>
          <a:ext cx="0" cy="0"/>
          <a:chOff x="0" y="0"/>
          <a:chExt cx="0" cy="0"/>
        </a:xfrm>
      </p:grpSpPr>
      <p:sp>
        <p:nvSpPr>
          <p:cNvPr id="40" name="Google Shape;40;p24"/>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4"/>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4"/>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4"/>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4" name="Google Shape;44;p2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7" name="Google Shape;47;p24"/>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2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25"/>
          <p:cNvSpPr txBox="1"/>
          <p:nvPr>
            <p:ph idx="1" type="body"/>
          </p:nvPr>
        </p:nvSpPr>
        <p:spPr>
          <a:xfrm>
            <a:off x="1097280" y="1845734"/>
            <a:ext cx="4937760" cy="4023359"/>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1" name="Google Shape;51;p25"/>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2" name="Google Shape;52;p2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2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26"/>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8" name="Google Shape;58;p26"/>
          <p:cNvSpPr txBox="1"/>
          <p:nvPr>
            <p:ph idx="2" type="body"/>
          </p:nvPr>
        </p:nvSpPr>
        <p:spPr>
          <a:xfrm>
            <a:off x="1097280" y="2582335"/>
            <a:ext cx="493776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9" name="Google Shape;59;p26"/>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0" name="Google Shape;60;p26"/>
          <p:cNvSpPr txBox="1"/>
          <p:nvPr>
            <p:ph idx="4" type="body"/>
          </p:nvPr>
        </p:nvSpPr>
        <p:spPr>
          <a:xfrm>
            <a:off x="6217920" y="2582334"/>
            <a:ext cx="4937760" cy="32867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1" name="Google Shape;61;p2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2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2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9" name="Shape 69"/>
        <p:cNvGrpSpPr/>
        <p:nvPr/>
      </p:nvGrpSpPr>
      <p:grpSpPr>
        <a:xfrm>
          <a:off x="0" y="0"/>
          <a:ext cx="0" cy="0"/>
          <a:chOff x="0" y="0"/>
          <a:chExt cx="0" cy="0"/>
        </a:xfrm>
      </p:grpSpPr>
      <p:sp>
        <p:nvSpPr>
          <p:cNvPr id="70" name="Google Shape;70;p28"/>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8"/>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8"/>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8"/>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4" name="Google Shape;74;p28"/>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5" name="Google Shape;75;p28"/>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8"/>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50">
                <a:solidFill>
                  <a:schemeClr val="dk2"/>
                </a:solidFill>
                <a:latin typeface="Calibri"/>
                <a:ea typeface="Calibri"/>
                <a:cs typeface="Calibri"/>
                <a:sym typeface="Calibri"/>
              </a:defRPr>
            </a:lvl1pPr>
            <a:lvl2pPr indent="0" lvl="1" marL="0" algn="r">
              <a:spcBef>
                <a:spcPts val="0"/>
              </a:spcBef>
              <a:buNone/>
              <a:defRPr sz="1050">
                <a:solidFill>
                  <a:schemeClr val="dk2"/>
                </a:solidFill>
                <a:latin typeface="Calibri"/>
                <a:ea typeface="Calibri"/>
                <a:cs typeface="Calibri"/>
                <a:sym typeface="Calibri"/>
              </a:defRPr>
            </a:lvl2pPr>
            <a:lvl3pPr indent="0" lvl="2" marL="0" algn="r">
              <a:spcBef>
                <a:spcPts val="0"/>
              </a:spcBef>
              <a:buNone/>
              <a:defRPr sz="1050">
                <a:solidFill>
                  <a:schemeClr val="dk2"/>
                </a:solidFill>
                <a:latin typeface="Calibri"/>
                <a:ea typeface="Calibri"/>
                <a:cs typeface="Calibri"/>
                <a:sym typeface="Calibri"/>
              </a:defRPr>
            </a:lvl3pPr>
            <a:lvl4pPr indent="0" lvl="3" marL="0" algn="r">
              <a:spcBef>
                <a:spcPts val="0"/>
              </a:spcBef>
              <a:buNone/>
              <a:defRPr sz="1050">
                <a:solidFill>
                  <a:schemeClr val="dk2"/>
                </a:solidFill>
                <a:latin typeface="Calibri"/>
                <a:ea typeface="Calibri"/>
                <a:cs typeface="Calibri"/>
                <a:sym typeface="Calibri"/>
              </a:defRPr>
            </a:lvl4pPr>
            <a:lvl5pPr indent="0" lvl="4" marL="0" algn="r">
              <a:spcBef>
                <a:spcPts val="0"/>
              </a:spcBef>
              <a:buNone/>
              <a:defRPr sz="1050">
                <a:solidFill>
                  <a:schemeClr val="dk2"/>
                </a:solidFill>
                <a:latin typeface="Calibri"/>
                <a:ea typeface="Calibri"/>
                <a:cs typeface="Calibri"/>
                <a:sym typeface="Calibri"/>
              </a:defRPr>
            </a:lvl5pPr>
            <a:lvl6pPr indent="0" lvl="5" marL="0" algn="r">
              <a:spcBef>
                <a:spcPts val="0"/>
              </a:spcBef>
              <a:buNone/>
              <a:defRPr sz="1050">
                <a:solidFill>
                  <a:schemeClr val="dk2"/>
                </a:solidFill>
                <a:latin typeface="Calibri"/>
                <a:ea typeface="Calibri"/>
                <a:cs typeface="Calibri"/>
                <a:sym typeface="Calibri"/>
              </a:defRPr>
            </a:lvl6pPr>
            <a:lvl7pPr indent="0" lvl="6" marL="0" algn="r">
              <a:spcBef>
                <a:spcPts val="0"/>
              </a:spcBef>
              <a:buNone/>
              <a:defRPr sz="1050">
                <a:solidFill>
                  <a:schemeClr val="dk2"/>
                </a:solidFill>
                <a:latin typeface="Calibri"/>
                <a:ea typeface="Calibri"/>
                <a:cs typeface="Calibri"/>
                <a:sym typeface="Calibri"/>
              </a:defRPr>
            </a:lvl7pPr>
            <a:lvl8pPr indent="0" lvl="7" marL="0" algn="r">
              <a:spcBef>
                <a:spcPts val="0"/>
              </a:spcBef>
              <a:buNone/>
              <a:defRPr sz="1050">
                <a:solidFill>
                  <a:schemeClr val="dk2"/>
                </a:solidFill>
                <a:latin typeface="Calibri"/>
                <a:ea typeface="Calibri"/>
                <a:cs typeface="Calibri"/>
                <a:sym typeface="Calibri"/>
              </a:defRPr>
            </a:lvl8pPr>
            <a:lvl9pPr indent="0" lvl="8" marL="0" algn="r">
              <a:spcBef>
                <a:spcPts val="0"/>
              </a:spcBef>
              <a:buNone/>
              <a:defRPr sz="1050">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8" name="Shape 78"/>
        <p:cNvGrpSpPr/>
        <p:nvPr/>
      </p:nvGrpSpPr>
      <p:grpSpPr>
        <a:xfrm>
          <a:off x="0" y="0"/>
          <a:ext cx="0" cy="0"/>
          <a:chOff x="0" y="0"/>
          <a:chExt cx="0" cy="0"/>
        </a:xfrm>
      </p:grpSpPr>
      <p:sp>
        <p:nvSpPr>
          <p:cNvPr id="79" name="Google Shape;79;p29"/>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9"/>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9"/>
          <p:cNvSpPr txBox="1"/>
          <p:nvPr>
            <p:ph type="title"/>
          </p:nvPr>
        </p:nvSpPr>
        <p:spPr>
          <a:xfrm>
            <a:off x="1097280" y="5074920"/>
            <a:ext cx="10113645"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29"/>
          <p:cNvSpPr/>
          <p:nvPr>
            <p:ph idx="2" type="pic"/>
          </p:nvPr>
        </p:nvSpPr>
        <p:spPr>
          <a:xfrm>
            <a:off x="15" y="0"/>
            <a:ext cx="12191985" cy="4915076"/>
          </a:xfrm>
          <a:prstGeom prst="rect">
            <a:avLst/>
          </a:prstGeom>
          <a:solidFill>
            <a:srgbClr val="BECAD4"/>
          </a:solidFill>
          <a:ln>
            <a:noFill/>
          </a:ln>
        </p:spPr>
      </p:sp>
      <p:sp>
        <p:nvSpPr>
          <p:cNvPr id="83" name="Google Shape;83;p29"/>
          <p:cNvSpPr txBox="1"/>
          <p:nvPr>
            <p:ph idx="1" type="body"/>
          </p:nvPr>
        </p:nvSpPr>
        <p:spPr>
          <a:xfrm>
            <a:off x="1097280" y="5907024"/>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4" name="Google Shape;84;p2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7" name="Shape 87"/>
        <p:cNvGrpSpPr/>
        <p:nvPr/>
      </p:nvGrpSpPr>
      <p:grpSpPr>
        <a:xfrm>
          <a:off x="0" y="0"/>
          <a:ext cx="0" cy="0"/>
          <a:chOff x="0" y="0"/>
          <a:chExt cx="0" cy="0"/>
        </a:xfrm>
      </p:grpSpPr>
      <p:sp>
        <p:nvSpPr>
          <p:cNvPr id="88" name="Google Shape;88;p3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30"/>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0" name="Google Shape;90;p3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3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3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3" name="Shape 93"/>
        <p:cNvGrpSpPr/>
        <p:nvPr/>
      </p:nvGrpSpPr>
      <p:grpSpPr>
        <a:xfrm>
          <a:off x="0" y="0"/>
          <a:ext cx="0" cy="0"/>
          <a:chOff x="0" y="0"/>
          <a:chExt cx="0" cy="0"/>
        </a:xfrm>
      </p:grpSpPr>
      <p:sp>
        <p:nvSpPr>
          <p:cNvPr id="94" name="Google Shape;94;p31"/>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1"/>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1"/>
          <p:cNvSpPr txBox="1"/>
          <p:nvPr>
            <p:ph type="title"/>
          </p:nvPr>
        </p:nvSpPr>
        <p:spPr>
          <a:xfrm rot="5400000">
            <a:off x="7159401" y="1977801"/>
            <a:ext cx="5759898"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31"/>
          <p:cNvSpPr txBox="1"/>
          <p:nvPr>
            <p:ph idx="1" type="body"/>
          </p:nvPr>
        </p:nvSpPr>
        <p:spPr>
          <a:xfrm rot="5400000">
            <a:off x="1825401" y="-574899"/>
            <a:ext cx="5759898"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8" name="Google Shape;98;p3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3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3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0"/>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4" name="Google Shape;14;p2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2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2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20"/>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
          <p:cNvSpPr txBox="1"/>
          <p:nvPr>
            <p:ph type="ctrTitle"/>
          </p:nvPr>
        </p:nvSpPr>
        <p:spPr>
          <a:xfrm>
            <a:off x="1097280" y="461554"/>
            <a:ext cx="10058400" cy="371856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85000"/>
              </a:lnSpc>
              <a:spcBef>
                <a:spcPts val="0"/>
              </a:spcBef>
              <a:spcAft>
                <a:spcPts val="0"/>
              </a:spcAft>
              <a:buClr>
                <a:srgbClr val="136266"/>
              </a:buClr>
              <a:buSzPct val="100000"/>
              <a:buFont typeface="Gill Sans"/>
              <a:buNone/>
            </a:pPr>
            <a:r>
              <a:rPr b="1" lang="en-US">
                <a:solidFill>
                  <a:srgbClr val="136266"/>
                </a:solidFill>
                <a:latin typeface="Gill Sans"/>
                <a:ea typeface="Gill Sans"/>
                <a:cs typeface="Gill Sans"/>
                <a:sym typeface="Gill Sans"/>
              </a:rPr>
              <a:t>Biosorption </a:t>
            </a:r>
            <a:br>
              <a:rPr b="1" lang="en-US">
                <a:solidFill>
                  <a:srgbClr val="136266"/>
                </a:solidFill>
                <a:latin typeface="Gill Sans"/>
                <a:ea typeface="Gill Sans"/>
                <a:cs typeface="Gill Sans"/>
                <a:sym typeface="Gill Sans"/>
              </a:rPr>
            </a:br>
            <a:r>
              <a:rPr b="1" lang="en-US">
                <a:solidFill>
                  <a:srgbClr val="136266"/>
                </a:solidFill>
                <a:latin typeface="Gill Sans"/>
                <a:ea typeface="Gill Sans"/>
                <a:cs typeface="Gill Sans"/>
                <a:sym typeface="Gill Sans"/>
              </a:rPr>
              <a:t>&amp; Bioaccumulation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
          <p:cNvSpPr txBox="1"/>
          <p:nvPr>
            <p:ph type="title"/>
          </p:nvPr>
        </p:nvSpPr>
        <p:spPr>
          <a:xfrm>
            <a:off x="1097280" y="419100"/>
            <a:ext cx="10058400" cy="127635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85000"/>
              </a:lnSpc>
              <a:spcBef>
                <a:spcPts val="0"/>
              </a:spcBef>
              <a:spcAft>
                <a:spcPts val="0"/>
              </a:spcAft>
              <a:buClr>
                <a:srgbClr val="3F3F3F"/>
              </a:buClr>
              <a:buSzPct val="100000"/>
              <a:buFont typeface="Arial Rounded"/>
              <a:buNone/>
            </a:pPr>
            <a:r>
              <a:rPr b="1" lang="en-US">
                <a:latin typeface="Arial Rounded"/>
                <a:ea typeface="Arial Rounded"/>
                <a:cs typeface="Arial Rounded"/>
                <a:sym typeface="Arial Rounded"/>
              </a:rPr>
              <a:t>Potentially Toxic Elements – Heavy Metals</a:t>
            </a:r>
            <a:endParaRPr b="1">
              <a:latin typeface="Arial Rounded"/>
              <a:ea typeface="Arial Rounded"/>
              <a:cs typeface="Arial Rounded"/>
              <a:sym typeface="Arial Rounded"/>
            </a:endParaRPr>
          </a:p>
        </p:txBody>
      </p:sp>
      <p:sp>
        <p:nvSpPr>
          <p:cNvPr id="111" name="Google Shape;111;p2"/>
          <p:cNvSpPr txBox="1"/>
          <p:nvPr>
            <p:ph idx="1" type="body"/>
          </p:nvPr>
        </p:nvSpPr>
        <p:spPr>
          <a:xfrm>
            <a:off x="381965" y="1845734"/>
            <a:ext cx="11470512" cy="4428942"/>
          </a:xfrm>
          <a:prstGeom prst="rect">
            <a:avLst/>
          </a:prstGeom>
          <a:noFill/>
          <a:ln>
            <a:noFill/>
          </a:ln>
        </p:spPr>
        <p:txBody>
          <a:bodyPr anchorCtr="0" anchor="t" bIns="45700" lIns="0" spcFirstLastPara="1" rIns="0" wrap="square" tIns="45700">
            <a:normAutofit fontScale="92500" lnSpcReduction="10000"/>
          </a:bodyPr>
          <a:lstStyle/>
          <a:p>
            <a:pPr indent="0" lvl="0" marL="0" rtl="0" algn="l">
              <a:lnSpc>
                <a:spcPct val="90000"/>
              </a:lnSpc>
              <a:spcBef>
                <a:spcPts val="0"/>
              </a:spcBef>
              <a:spcAft>
                <a:spcPts val="0"/>
              </a:spcAft>
              <a:buSzPct val="100000"/>
              <a:buNone/>
            </a:pPr>
            <a:r>
              <a:rPr b="1" lang="en-US"/>
              <a:t>Heavy Metals</a:t>
            </a:r>
            <a:endParaRPr/>
          </a:p>
          <a:p>
            <a:pPr indent="-117475" lvl="0" marL="91440" rtl="0" algn="l">
              <a:lnSpc>
                <a:spcPct val="90000"/>
              </a:lnSpc>
              <a:spcBef>
                <a:spcPts val="1400"/>
              </a:spcBef>
              <a:spcAft>
                <a:spcPts val="0"/>
              </a:spcAft>
              <a:buSzPct val="100000"/>
              <a:buFont typeface="Noto Sans Symbols"/>
              <a:buChar char="❑"/>
            </a:pPr>
            <a:r>
              <a:rPr lang="en-US"/>
              <a:t> Heavy Metals are chemical elements with a specific gravity that is at least 5 times the specific gravity of water. Examples: Arsenic, Cadmium, Iron, Lead, Mercury</a:t>
            </a:r>
            <a:endParaRPr/>
          </a:p>
          <a:p>
            <a:pPr indent="0" lvl="0" marL="0" rtl="0" algn="l">
              <a:lnSpc>
                <a:spcPct val="90000"/>
              </a:lnSpc>
              <a:spcBef>
                <a:spcPts val="1400"/>
              </a:spcBef>
              <a:spcAft>
                <a:spcPts val="0"/>
              </a:spcAft>
              <a:buSzPct val="100000"/>
              <a:buNone/>
            </a:pPr>
            <a:r>
              <a:t/>
            </a:r>
            <a:endParaRPr/>
          </a:p>
          <a:p>
            <a:pPr indent="0" lvl="0" marL="0" rtl="0" algn="l">
              <a:lnSpc>
                <a:spcPct val="90000"/>
              </a:lnSpc>
              <a:spcBef>
                <a:spcPts val="1400"/>
              </a:spcBef>
              <a:spcAft>
                <a:spcPts val="0"/>
              </a:spcAft>
              <a:buSzPct val="100000"/>
              <a:buNone/>
            </a:pPr>
            <a:r>
              <a:rPr b="1" lang="en-US"/>
              <a:t>Toxic Heavy Metals</a:t>
            </a:r>
            <a:endParaRPr/>
          </a:p>
          <a:p>
            <a:pPr indent="-117475" lvl="0" marL="91440" rtl="0" algn="l">
              <a:lnSpc>
                <a:spcPct val="90000"/>
              </a:lnSpc>
              <a:spcBef>
                <a:spcPts val="1400"/>
              </a:spcBef>
              <a:spcAft>
                <a:spcPts val="0"/>
              </a:spcAft>
              <a:buSzPct val="100000"/>
              <a:buFont typeface="Noto Sans Symbols"/>
              <a:buChar char="❑"/>
            </a:pPr>
            <a:r>
              <a:rPr lang="en-US"/>
              <a:t> Heavy metals become toxic when they are not metabolized by the body and accumulate in the tissues.</a:t>
            </a:r>
            <a:endParaRPr/>
          </a:p>
          <a:p>
            <a:pPr indent="-117475" lvl="0" marL="91440" rtl="0" algn="l">
              <a:lnSpc>
                <a:spcPct val="90000"/>
              </a:lnSpc>
              <a:spcBef>
                <a:spcPts val="1400"/>
              </a:spcBef>
              <a:spcAft>
                <a:spcPts val="0"/>
              </a:spcAft>
              <a:buSzPct val="100000"/>
              <a:buFont typeface="Noto Sans Symbols"/>
              <a:buChar char="❑"/>
            </a:pPr>
            <a:r>
              <a:rPr lang="en-US"/>
              <a:t> Toxic Metals are Cu, Cr, Mn, Ni, Sn, and Zn.</a:t>
            </a:r>
            <a:r>
              <a:rPr b="1" lang="en-US"/>
              <a:t> </a:t>
            </a:r>
            <a:endParaRPr/>
          </a:p>
          <a:p>
            <a:pPr indent="0" lvl="0" marL="0" rtl="0" algn="l">
              <a:lnSpc>
                <a:spcPct val="90000"/>
              </a:lnSpc>
              <a:spcBef>
                <a:spcPts val="1400"/>
              </a:spcBef>
              <a:spcAft>
                <a:spcPts val="0"/>
              </a:spcAft>
              <a:buSzPct val="100000"/>
              <a:buNone/>
            </a:pPr>
            <a:r>
              <a:t/>
            </a:r>
            <a:endParaRPr b="1"/>
          </a:p>
          <a:p>
            <a:pPr indent="-117475" lvl="0" marL="91440" rtl="0" algn="just">
              <a:lnSpc>
                <a:spcPct val="90000"/>
              </a:lnSpc>
              <a:spcBef>
                <a:spcPts val="1400"/>
              </a:spcBef>
              <a:spcAft>
                <a:spcPts val="0"/>
              </a:spcAft>
              <a:buSzPct val="100000"/>
              <a:buFont typeface="Noto Sans Symbols"/>
              <a:buChar char="⮚"/>
            </a:pPr>
            <a:r>
              <a:rPr b="1" lang="en-US"/>
              <a:t> Most heavy metal ions are water soluble and get dissolved in wastewater, which results in health hazards and harmful biochemical effects on human beings. Therefore it is essential to remove heavy metals in industrial wastewater and the environment to an acceptable level. The non-living biomass of algae, waste biomass originating from plants, and mycelial wastes from fermentation industries are potential biosorbents for the removal of heavy metals from industrial effluents.</a:t>
            </a:r>
            <a:endParaRPr/>
          </a:p>
          <a:p>
            <a:pPr indent="0" lvl="0" marL="91440" rtl="0" algn="l">
              <a:lnSpc>
                <a:spcPct val="90000"/>
              </a:lnSpc>
              <a:spcBef>
                <a:spcPts val="1400"/>
              </a:spcBef>
              <a:spcAft>
                <a:spcPts val="0"/>
              </a:spcAft>
              <a:buSzPct val="100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
          <p:cNvSpPr/>
          <p:nvPr/>
        </p:nvSpPr>
        <p:spPr>
          <a:xfrm>
            <a:off x="0" y="754743"/>
            <a:ext cx="5094514" cy="406265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2400" u="none" cap="none" strike="noStrike">
                <a:solidFill>
                  <a:schemeClr val="dk1"/>
                </a:solidFill>
                <a:latin typeface="Calibri"/>
                <a:ea typeface="Calibri"/>
                <a:cs typeface="Calibri"/>
                <a:sym typeface="Calibri"/>
              </a:rPr>
              <a:t>Bioremediation </a:t>
            </a:r>
            <a:r>
              <a:rPr b="0" i="0" lang="en-US" sz="1800" u="none" cap="none" strike="noStrike">
                <a:solidFill>
                  <a:schemeClr val="dk1"/>
                </a:solidFill>
                <a:latin typeface="Calibri"/>
                <a:ea typeface="Calibri"/>
                <a:cs typeface="Calibri"/>
                <a:sym typeface="Calibri"/>
              </a:rPr>
              <a:t>is a process that detoxifies pollutants in soil and other environments primarily by using microbes, plants, or microbial or plant enzymes. </a:t>
            </a:r>
            <a:endParaRPr/>
          </a:p>
          <a:p>
            <a:pPr indent="0" lvl="0" marL="0" marR="0" rtl="0" algn="just">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It employs biological mechanisms inherent in plants and microorganisms to eliminate harmful pollutants and return the environment to its natural or original state.</a:t>
            </a:r>
            <a:endParaRPr/>
          </a:p>
          <a:p>
            <a:pPr indent="0" lvl="0" marL="0" marR="0" rtl="0" algn="just">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just">
              <a:spcBef>
                <a:spcPts val="0"/>
              </a:spcBef>
              <a:spcAft>
                <a:spcPts val="0"/>
              </a:spcAft>
              <a:buNone/>
            </a:pPr>
            <a:r>
              <a:rPr b="0" i="0" lang="en-US" sz="1800" u="none" cap="none" strike="noStrike">
                <a:solidFill>
                  <a:schemeClr val="dk1"/>
                </a:solidFill>
                <a:latin typeface="Calibri"/>
                <a:ea typeface="Calibri"/>
                <a:cs typeface="Calibri"/>
                <a:sym typeface="Calibri"/>
              </a:rPr>
              <a:t>The key principles of bioremediation are to lower the solubility of pollutants in the environment by altering pH, redox processes, and pollutant adsorption from a polluted environment</a:t>
            </a:r>
            <a:endParaRPr/>
          </a:p>
        </p:txBody>
      </p:sp>
      <p:sp>
        <p:nvSpPr>
          <p:cNvPr descr="Fig. 2" id="117" name="Google Shape;117;p3"/>
          <p:cNvSpPr/>
          <p:nvPr/>
        </p:nvSpPr>
        <p:spPr>
          <a:xfrm>
            <a:off x="63500" y="-136525"/>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18" name="Google Shape;118;p3"/>
          <p:cNvPicPr preferRelativeResize="0"/>
          <p:nvPr/>
        </p:nvPicPr>
        <p:blipFill rotWithShape="1">
          <a:blip r:embed="rId3">
            <a:alphaModFix/>
          </a:blip>
          <a:srcRect b="0" l="0" r="0" t="0"/>
          <a:stretch/>
        </p:blipFill>
        <p:spPr>
          <a:xfrm>
            <a:off x="5076825" y="474209"/>
            <a:ext cx="7115175" cy="5038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grpSp>
        <p:nvGrpSpPr>
          <p:cNvPr id="123" name="Google Shape;123;p4"/>
          <p:cNvGrpSpPr/>
          <p:nvPr/>
        </p:nvGrpSpPr>
        <p:grpSpPr>
          <a:xfrm>
            <a:off x="130627" y="69668"/>
            <a:ext cx="11904619" cy="6165668"/>
            <a:chOff x="0" y="0"/>
            <a:chExt cx="11904619" cy="6165668"/>
          </a:xfrm>
        </p:grpSpPr>
        <p:sp>
          <p:nvSpPr>
            <p:cNvPr id="124" name="Google Shape;124;p4"/>
            <p:cNvSpPr/>
            <p:nvPr/>
          </p:nvSpPr>
          <p:spPr>
            <a:xfrm>
              <a:off x="0" y="0"/>
              <a:ext cx="11904619" cy="1849700"/>
            </a:xfrm>
            <a:prstGeom prst="rect">
              <a:avLst/>
            </a:prstGeom>
            <a:solidFill>
              <a:srgbClr val="5793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txBox="1"/>
            <p:nvPr/>
          </p:nvSpPr>
          <p:spPr>
            <a:xfrm>
              <a:off x="0" y="0"/>
              <a:ext cx="11904619" cy="1849700"/>
            </a:xfrm>
            <a:prstGeom prst="rect">
              <a:avLst/>
            </a:prstGeom>
            <a:noFill/>
            <a:ln>
              <a:noFill/>
            </a:ln>
          </p:spPr>
          <p:txBody>
            <a:bodyPr anchorCtr="0" anchor="ctr" bIns="247650" lIns="247650" spcFirstLastPara="1" rIns="247650" wrap="square" tIns="247650">
              <a:noAutofit/>
            </a:bodyPr>
            <a:lstStyle/>
            <a:p>
              <a:pPr indent="0" lvl="0" marL="0" marR="0" rtl="0" algn="ctr">
                <a:lnSpc>
                  <a:spcPct val="90000"/>
                </a:lnSpc>
                <a:spcBef>
                  <a:spcPts val="0"/>
                </a:spcBef>
                <a:spcAft>
                  <a:spcPts val="0"/>
                </a:spcAft>
                <a:buClr>
                  <a:schemeClr val="dk1"/>
                </a:buClr>
                <a:buSzPts val="6500"/>
                <a:buFont typeface="Calibri"/>
                <a:buNone/>
              </a:pPr>
              <a:r>
                <a:rPr lang="en-US" sz="6500">
                  <a:solidFill>
                    <a:schemeClr val="dk1"/>
                  </a:solidFill>
                  <a:latin typeface="Calibri"/>
                  <a:ea typeface="Calibri"/>
                  <a:cs typeface="Calibri"/>
                  <a:sym typeface="Calibri"/>
                </a:rPr>
                <a:t>Biosorption and Bioaccumulation</a:t>
              </a:r>
              <a:endParaRPr/>
            </a:p>
          </p:txBody>
        </p:sp>
        <p:sp>
          <p:nvSpPr>
            <p:cNvPr id="126" name="Google Shape;126;p4"/>
            <p:cNvSpPr/>
            <p:nvPr/>
          </p:nvSpPr>
          <p:spPr>
            <a:xfrm>
              <a:off x="0" y="1849700"/>
              <a:ext cx="5952309" cy="3884371"/>
            </a:xfrm>
            <a:prstGeom prst="rect">
              <a:avLst/>
            </a:prstGeom>
            <a:gradFill>
              <a:gsLst>
                <a:gs pos="0">
                  <a:srgbClr val="F5F5F5"/>
                </a:gs>
                <a:gs pos="45000">
                  <a:srgbClr val="FDFDFD"/>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
            <p:cNvSpPr txBox="1"/>
            <p:nvPr/>
          </p:nvSpPr>
          <p:spPr>
            <a:xfrm>
              <a:off x="0" y="1849700"/>
              <a:ext cx="5952309" cy="3884371"/>
            </a:xfrm>
            <a:prstGeom prst="rect">
              <a:avLst/>
            </a:prstGeom>
            <a:noFill/>
            <a:ln>
              <a:noFill/>
            </a:ln>
          </p:spPr>
          <p:txBody>
            <a:bodyPr anchorCtr="0" anchor="ctr" bIns="68575" lIns="68575" spcFirstLastPara="1" rIns="68575" wrap="square" tIns="68575">
              <a:noAutofit/>
            </a:bodyPr>
            <a:lstStyle/>
            <a:p>
              <a:pPr indent="0" lvl="0" marL="0" marR="0" rtl="0" algn="just">
                <a:lnSpc>
                  <a:spcPct val="90000"/>
                </a:lnSpc>
                <a:spcBef>
                  <a:spcPts val="0"/>
                </a:spcBef>
                <a:spcAft>
                  <a:spcPts val="0"/>
                </a:spcAft>
                <a:buClr>
                  <a:schemeClr val="dk1"/>
                </a:buClr>
                <a:buSzPts val="1800"/>
                <a:buFont typeface="Times New Roman"/>
                <a:buNone/>
              </a:pPr>
              <a:r>
                <a:rPr b="1" lang="en-US" sz="1800">
                  <a:solidFill>
                    <a:schemeClr val="dk1"/>
                  </a:solidFill>
                  <a:latin typeface="Times New Roman"/>
                  <a:ea typeface="Times New Roman"/>
                  <a:cs typeface="Times New Roman"/>
                  <a:sym typeface="Times New Roman"/>
                </a:rPr>
                <a:t>Biosorption can be defined as the ability of biological materials to accumulate organic pollutants such as heavy metals, industrial discharge and dyes from wastewater through metabolically mediated or physico-chemical pathways of uptake.</a:t>
              </a:r>
              <a:endParaRPr/>
            </a:p>
            <a:p>
              <a:pPr indent="0" lvl="0" marL="0" marR="0" rtl="0" algn="just">
                <a:lnSpc>
                  <a:spcPct val="90000"/>
                </a:lnSpc>
                <a:spcBef>
                  <a:spcPts val="630"/>
                </a:spcBef>
                <a:spcAft>
                  <a:spcPts val="0"/>
                </a:spcAft>
                <a:buClr>
                  <a:schemeClr val="dk1"/>
                </a:buClr>
                <a:buSzPts val="2100"/>
                <a:buFont typeface="Calibri"/>
                <a:buNone/>
              </a:pPr>
              <a:r>
                <a:t/>
              </a:r>
              <a:endParaRPr sz="2100">
                <a:solidFill>
                  <a:schemeClr val="dk1"/>
                </a:solidFill>
                <a:latin typeface="Times New Roman"/>
                <a:ea typeface="Times New Roman"/>
                <a:cs typeface="Times New Roman"/>
                <a:sym typeface="Times New Roman"/>
              </a:endParaRPr>
            </a:p>
            <a:p>
              <a:pPr indent="0" lvl="0" marL="0" marR="0" rtl="0" algn="just">
                <a:lnSpc>
                  <a:spcPct val="90000"/>
                </a:lnSpc>
                <a:spcBef>
                  <a:spcPts val="735"/>
                </a:spcBef>
                <a:spcAft>
                  <a:spcPts val="0"/>
                </a:spcAft>
                <a:buClr>
                  <a:schemeClr val="dk1"/>
                </a:buClr>
                <a:buSzPts val="1800"/>
                <a:buFont typeface="Calibri"/>
                <a:buNone/>
              </a:pPr>
              <a:r>
                <a:t/>
              </a:r>
              <a:endParaRPr b="1" sz="1800">
                <a:solidFill>
                  <a:schemeClr val="dk1"/>
                </a:solidFill>
                <a:latin typeface="Times New Roman"/>
                <a:ea typeface="Times New Roman"/>
                <a:cs typeface="Times New Roman"/>
                <a:sym typeface="Times New Roman"/>
              </a:endParaRPr>
            </a:p>
            <a:p>
              <a:pPr indent="0" lvl="0" marL="0" marR="0" rtl="0" algn="just">
                <a:lnSpc>
                  <a:spcPct val="90000"/>
                </a:lnSpc>
                <a:spcBef>
                  <a:spcPts val="630"/>
                </a:spcBef>
                <a:spcAft>
                  <a:spcPts val="0"/>
                </a:spcAft>
                <a:buClr>
                  <a:schemeClr val="dk1"/>
                </a:buClr>
                <a:buSzPts val="1800"/>
                <a:buFont typeface="Times New Roman"/>
                <a:buNone/>
              </a:pPr>
              <a:r>
                <a:rPr b="1" lang="en-US" sz="1800">
                  <a:solidFill>
                    <a:schemeClr val="dk1"/>
                  </a:solidFill>
                  <a:latin typeface="Times New Roman"/>
                  <a:ea typeface="Times New Roman"/>
                  <a:cs typeface="Times New Roman"/>
                  <a:sym typeface="Times New Roman"/>
                </a:rPr>
                <a:t>It is a property of certain types of dead, inactive microbial biomass to bond and concentrate heavy metals from aqueous solutions such as water bodies.</a:t>
              </a:r>
              <a:endParaRPr/>
            </a:p>
            <a:p>
              <a:pPr indent="0" lvl="0" marL="0" marR="0" rtl="0" algn="just">
                <a:lnSpc>
                  <a:spcPct val="90000"/>
                </a:lnSpc>
                <a:spcBef>
                  <a:spcPts val="630"/>
                </a:spcBef>
                <a:spcAft>
                  <a:spcPts val="0"/>
                </a:spcAft>
                <a:buClr>
                  <a:schemeClr val="dk1"/>
                </a:buClr>
                <a:buSzPts val="1800"/>
                <a:buFont typeface="Calibri"/>
                <a:buNone/>
              </a:pPr>
              <a:r>
                <a:t/>
              </a:r>
              <a:endParaRPr b="1" sz="1800">
                <a:solidFill>
                  <a:schemeClr val="dk1"/>
                </a:solidFill>
                <a:latin typeface="Times New Roman"/>
                <a:ea typeface="Times New Roman"/>
                <a:cs typeface="Times New Roman"/>
                <a:sym typeface="Times New Roman"/>
              </a:endParaRPr>
            </a:p>
          </p:txBody>
        </p:sp>
        <p:sp>
          <p:nvSpPr>
            <p:cNvPr id="128" name="Google Shape;128;p4"/>
            <p:cNvSpPr/>
            <p:nvPr/>
          </p:nvSpPr>
          <p:spPr>
            <a:xfrm>
              <a:off x="5952309" y="1849700"/>
              <a:ext cx="5952309" cy="3884371"/>
            </a:xfrm>
            <a:prstGeom prst="rect">
              <a:avLst/>
            </a:prstGeom>
            <a:gradFill>
              <a:gsLst>
                <a:gs pos="0">
                  <a:srgbClr val="F5F5F5"/>
                </a:gs>
                <a:gs pos="45000">
                  <a:srgbClr val="FDFDFD"/>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4"/>
            <p:cNvSpPr txBox="1"/>
            <p:nvPr/>
          </p:nvSpPr>
          <p:spPr>
            <a:xfrm>
              <a:off x="5952309" y="1849700"/>
              <a:ext cx="5952309" cy="3884371"/>
            </a:xfrm>
            <a:prstGeom prst="rect">
              <a:avLst/>
            </a:prstGeom>
            <a:noFill/>
            <a:ln>
              <a:noFill/>
            </a:ln>
          </p:spPr>
          <p:txBody>
            <a:bodyPr anchorCtr="0" anchor="ctr" bIns="68575" lIns="68575" spcFirstLastPara="1" rIns="68575" wrap="square" tIns="68575">
              <a:noAutofit/>
            </a:bodyPr>
            <a:lstStyle/>
            <a:p>
              <a:pPr indent="0" lvl="0" marL="0" marR="0" rtl="0" algn="just">
                <a:lnSpc>
                  <a:spcPct val="90000"/>
                </a:lnSpc>
                <a:spcBef>
                  <a:spcPts val="0"/>
                </a:spcBef>
                <a:spcAft>
                  <a:spcPts val="0"/>
                </a:spcAft>
                <a:buClr>
                  <a:schemeClr val="dk1"/>
                </a:buClr>
                <a:buSzPts val="1800"/>
                <a:buFont typeface="Times New Roman"/>
                <a:buNone/>
              </a:pPr>
              <a:r>
                <a:rPr b="1" lang="en-US" sz="1800">
                  <a:solidFill>
                    <a:schemeClr val="dk1"/>
                  </a:solidFill>
                  <a:latin typeface="Times New Roman"/>
                  <a:ea typeface="Times New Roman"/>
                  <a:cs typeface="Times New Roman"/>
                  <a:sym typeface="Times New Roman"/>
                </a:rPr>
                <a:t>Bioaccumulation is defined  as accumulation of substances like pesticides and other organic chemicals in an organism or part of organism (cells or tissue). </a:t>
              </a:r>
              <a:r>
                <a:rPr b="1" i="0" lang="en-US" sz="1800">
                  <a:solidFill>
                    <a:schemeClr val="dk1"/>
                  </a:solidFill>
                  <a:latin typeface="Times New Roman"/>
                  <a:ea typeface="Times New Roman"/>
                  <a:cs typeface="Times New Roman"/>
                  <a:sym typeface="Times New Roman"/>
                </a:rPr>
                <a:t>Chemicals are introduced into the organism through exposure to the abiotic environment (soil, water, air) or as dietary intake (trophic transfer).</a:t>
              </a:r>
              <a:endParaRPr b="1" sz="1800">
                <a:solidFill>
                  <a:schemeClr val="dk1"/>
                </a:solidFill>
                <a:latin typeface="Times New Roman"/>
                <a:ea typeface="Times New Roman"/>
                <a:cs typeface="Times New Roman"/>
                <a:sym typeface="Times New Roman"/>
              </a:endParaRPr>
            </a:p>
            <a:p>
              <a:pPr indent="0" lvl="0" marL="0" marR="0" rtl="0" algn="just">
                <a:lnSpc>
                  <a:spcPct val="90000"/>
                </a:lnSpc>
                <a:spcBef>
                  <a:spcPts val="630"/>
                </a:spcBef>
                <a:spcAft>
                  <a:spcPts val="0"/>
                </a:spcAft>
                <a:buClr>
                  <a:schemeClr val="dk1"/>
                </a:buClr>
                <a:buSzPts val="1800"/>
                <a:buFont typeface="Calibri"/>
                <a:buNone/>
              </a:pPr>
              <a:r>
                <a:t/>
              </a:r>
              <a:endParaRPr b="1" sz="1800">
                <a:solidFill>
                  <a:schemeClr val="dk1"/>
                </a:solidFill>
                <a:latin typeface="Times New Roman"/>
                <a:ea typeface="Times New Roman"/>
                <a:cs typeface="Times New Roman"/>
                <a:sym typeface="Times New Roman"/>
              </a:endParaRPr>
            </a:p>
            <a:p>
              <a:pPr indent="0" lvl="0" marL="0" marR="0" rtl="0" algn="just">
                <a:lnSpc>
                  <a:spcPct val="90000"/>
                </a:lnSpc>
                <a:spcBef>
                  <a:spcPts val="630"/>
                </a:spcBef>
                <a:spcAft>
                  <a:spcPts val="0"/>
                </a:spcAft>
                <a:buClr>
                  <a:schemeClr val="dk1"/>
                </a:buClr>
                <a:buSzPts val="1800"/>
                <a:buFont typeface="Calibri"/>
                <a:buNone/>
              </a:pPr>
              <a:r>
                <a:t/>
              </a:r>
              <a:endParaRPr b="1" sz="1800">
                <a:solidFill>
                  <a:schemeClr val="dk1"/>
                </a:solidFill>
                <a:latin typeface="Times New Roman"/>
                <a:ea typeface="Times New Roman"/>
                <a:cs typeface="Times New Roman"/>
                <a:sym typeface="Times New Roman"/>
              </a:endParaRPr>
            </a:p>
            <a:p>
              <a:pPr indent="0" lvl="0" marL="0" marR="0" rtl="0" algn="just">
                <a:lnSpc>
                  <a:spcPct val="90000"/>
                </a:lnSpc>
                <a:spcBef>
                  <a:spcPts val="630"/>
                </a:spcBef>
                <a:spcAft>
                  <a:spcPts val="0"/>
                </a:spcAft>
                <a:buClr>
                  <a:schemeClr val="dk1"/>
                </a:buClr>
                <a:buSzPts val="1800"/>
                <a:buFont typeface="Times New Roman"/>
                <a:buNone/>
              </a:pPr>
              <a:r>
                <a:rPr b="1" lang="en-US" sz="1800">
                  <a:solidFill>
                    <a:schemeClr val="dk1"/>
                  </a:solidFill>
                  <a:latin typeface="Times New Roman"/>
                  <a:ea typeface="Times New Roman"/>
                  <a:cs typeface="Times New Roman"/>
                  <a:sym typeface="Times New Roman"/>
                </a:rPr>
                <a:t>It commonly refers to gradual build-up of pollutants in living organisms.</a:t>
              </a:r>
              <a:endParaRPr/>
            </a:p>
            <a:p>
              <a:pPr indent="0" lvl="0" marL="0" marR="0" rtl="0" algn="just">
                <a:lnSpc>
                  <a:spcPct val="90000"/>
                </a:lnSpc>
                <a:spcBef>
                  <a:spcPts val="630"/>
                </a:spcBef>
                <a:spcAft>
                  <a:spcPts val="0"/>
                </a:spcAft>
                <a:buClr>
                  <a:schemeClr val="dk1"/>
                </a:buClr>
                <a:buSzPts val="1800"/>
                <a:buFont typeface="Calibri"/>
                <a:buNone/>
              </a:pPr>
              <a:r>
                <a:t/>
              </a:r>
              <a:endParaRPr b="1" sz="1800">
                <a:solidFill>
                  <a:schemeClr val="dk1"/>
                </a:solidFill>
                <a:latin typeface="Times New Roman"/>
                <a:ea typeface="Times New Roman"/>
                <a:cs typeface="Times New Roman"/>
                <a:sym typeface="Times New Roman"/>
              </a:endParaRPr>
            </a:p>
            <a:p>
              <a:pPr indent="0" lvl="0" marL="0" marR="0" rtl="0" algn="just">
                <a:lnSpc>
                  <a:spcPct val="90000"/>
                </a:lnSpc>
                <a:spcBef>
                  <a:spcPts val="630"/>
                </a:spcBef>
                <a:spcAft>
                  <a:spcPts val="0"/>
                </a:spcAft>
                <a:buClr>
                  <a:schemeClr val="dk1"/>
                </a:buClr>
                <a:buSzPts val="1800"/>
                <a:buFont typeface="Calibri"/>
                <a:buNone/>
              </a:pPr>
              <a:r>
                <a:t/>
              </a:r>
              <a:endParaRPr b="1" sz="1800">
                <a:solidFill>
                  <a:schemeClr val="dk1"/>
                </a:solidFill>
                <a:latin typeface="Times New Roman"/>
                <a:ea typeface="Times New Roman"/>
                <a:cs typeface="Times New Roman"/>
                <a:sym typeface="Times New Roman"/>
              </a:endParaRPr>
            </a:p>
          </p:txBody>
        </p:sp>
        <p:sp>
          <p:nvSpPr>
            <p:cNvPr id="130" name="Google Shape;130;p4"/>
            <p:cNvSpPr/>
            <p:nvPr/>
          </p:nvSpPr>
          <p:spPr>
            <a:xfrm>
              <a:off x="0" y="5734072"/>
              <a:ext cx="11904619" cy="431596"/>
            </a:xfrm>
            <a:prstGeom prst="rect">
              <a:avLst/>
            </a:prstGeom>
            <a:solidFill>
              <a:srgbClr val="5793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5"/>
          <p:cNvPicPr preferRelativeResize="0"/>
          <p:nvPr/>
        </p:nvPicPr>
        <p:blipFill rotWithShape="1">
          <a:blip r:embed="rId3">
            <a:alphaModFix/>
          </a:blip>
          <a:srcRect b="0" l="0" r="0" t="0"/>
          <a:stretch/>
        </p:blipFill>
        <p:spPr>
          <a:xfrm>
            <a:off x="1457325" y="0"/>
            <a:ext cx="9197556" cy="5629274"/>
          </a:xfrm>
          <a:prstGeom prst="rect">
            <a:avLst/>
          </a:prstGeom>
          <a:noFill/>
          <a:ln>
            <a:noFill/>
          </a:ln>
        </p:spPr>
      </p:pic>
      <p:sp>
        <p:nvSpPr>
          <p:cNvPr id="136" name="Google Shape;136;p5"/>
          <p:cNvSpPr txBox="1"/>
          <p:nvPr/>
        </p:nvSpPr>
        <p:spPr>
          <a:xfrm>
            <a:off x="866775" y="5762625"/>
            <a:ext cx="10353675" cy="38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Figure: Mechanism of removal of Heavy metals through the process of Biosorption and Bioaccumulation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6"/>
          <p:cNvSpPr txBox="1"/>
          <p:nvPr>
            <p:ph type="title"/>
          </p:nvPr>
        </p:nvSpPr>
        <p:spPr>
          <a:xfrm>
            <a:off x="1097280" y="391886"/>
            <a:ext cx="10058400" cy="1040674"/>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chemeClr val="dk1"/>
              </a:buClr>
              <a:buSzPts val="4800"/>
              <a:buFont typeface="Arial Rounded"/>
              <a:buNone/>
            </a:pPr>
            <a:r>
              <a:rPr b="1" lang="en-US">
                <a:solidFill>
                  <a:schemeClr val="dk1"/>
                </a:solidFill>
                <a:latin typeface="Arial Rounded"/>
                <a:ea typeface="Arial Rounded"/>
                <a:cs typeface="Arial Rounded"/>
                <a:sym typeface="Arial Rounded"/>
              </a:rPr>
              <a:t>Biosorption and its mechanism</a:t>
            </a:r>
            <a:endParaRPr/>
          </a:p>
        </p:txBody>
      </p:sp>
      <p:sp>
        <p:nvSpPr>
          <p:cNvPr id="142" name="Google Shape;142;p6"/>
          <p:cNvSpPr txBox="1"/>
          <p:nvPr>
            <p:ph idx="1" type="body"/>
          </p:nvPr>
        </p:nvSpPr>
        <p:spPr>
          <a:xfrm>
            <a:off x="315310" y="2484362"/>
            <a:ext cx="11876690" cy="2435981"/>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Noto Sans Symbols"/>
              <a:buChar char="❖"/>
            </a:pPr>
            <a:r>
              <a:rPr b="1" lang="en-US"/>
              <a:t>Biosorption</a:t>
            </a:r>
            <a:r>
              <a:rPr lang="en-US"/>
              <a:t> is a </a:t>
            </a:r>
            <a:r>
              <a:rPr b="1" lang="en-US"/>
              <a:t>passive process</a:t>
            </a:r>
            <a:r>
              <a:rPr lang="en-US"/>
              <a:t> that occurs at a faster rate than bioaccumulation. Here, microorganisms use their cellular structure to capture HM ions, which they then sorb onto the cell wall’s binding sites.</a:t>
            </a:r>
            <a:endParaRPr/>
          </a:p>
          <a:p>
            <a:pPr indent="-127000" lvl="0" marL="91440" rtl="0" algn="l">
              <a:lnSpc>
                <a:spcPct val="90000"/>
              </a:lnSpc>
              <a:spcBef>
                <a:spcPts val="1400"/>
              </a:spcBef>
              <a:spcAft>
                <a:spcPts val="0"/>
              </a:spcAft>
              <a:buSzPts val="2000"/>
              <a:buFont typeface="Noto Sans Symbols"/>
              <a:buChar char="❖"/>
            </a:pPr>
            <a:r>
              <a:rPr lang="en-US"/>
              <a:t>The main attraction of biosorption is its potential ability to regenerate biomass, through the process called </a:t>
            </a:r>
            <a:r>
              <a:rPr b="1" lang="en-US"/>
              <a:t>desorption</a:t>
            </a:r>
            <a:r>
              <a:rPr lang="en-US"/>
              <a:t>.  It can influence the price of the whole process and the possibility of metal recovering from the liquid phase as well, which is very important for the practical use of the process.</a:t>
            </a:r>
            <a:endParaRPr/>
          </a:p>
          <a:p>
            <a:pPr indent="-127000" lvl="0" marL="91440" rtl="0" algn="l">
              <a:lnSpc>
                <a:spcPct val="90000"/>
              </a:lnSpc>
              <a:spcBef>
                <a:spcPts val="1400"/>
              </a:spcBef>
              <a:spcAft>
                <a:spcPts val="0"/>
              </a:spcAft>
              <a:buSzPts val="2000"/>
              <a:buFont typeface="Noto Sans Symbols"/>
              <a:buChar char="❖"/>
            </a:pPr>
            <a:r>
              <a:rPr lang="en-US"/>
              <a:t>Adsorption, is a surface occurrence, whereas absorption affects the full volume of the substance.</a:t>
            </a:r>
            <a:endParaRPr/>
          </a:p>
          <a:p>
            <a:pPr indent="0" lvl="0" marL="91440" rtl="0" algn="l">
              <a:lnSpc>
                <a:spcPct val="90000"/>
              </a:lnSpc>
              <a:spcBef>
                <a:spcPts val="1400"/>
              </a:spcBef>
              <a:spcAft>
                <a:spcPts val="0"/>
              </a:spcAft>
              <a:buSzPts val="2000"/>
              <a:buFont typeface="Noto Sans Symbols"/>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descr="https://www.mdpi.com/marinedrugs/marinedrugs-16-00065/article_deploy/html/images/marinedrugs-16-00065-g002.png" id="147" name="Google Shape;147;p7"/>
          <p:cNvPicPr preferRelativeResize="0"/>
          <p:nvPr/>
        </p:nvPicPr>
        <p:blipFill rotWithShape="1">
          <a:blip r:embed="rId3">
            <a:alphaModFix/>
          </a:blip>
          <a:srcRect b="0" l="0" r="0" t="0"/>
          <a:stretch/>
        </p:blipFill>
        <p:spPr>
          <a:xfrm>
            <a:off x="0" y="87084"/>
            <a:ext cx="8898348" cy="4165600"/>
          </a:xfrm>
          <a:prstGeom prst="rect">
            <a:avLst/>
          </a:prstGeom>
          <a:noFill/>
          <a:ln cap="flat" cmpd="sng" w="38100">
            <a:solidFill>
              <a:schemeClr val="dk1"/>
            </a:solidFill>
            <a:prstDash val="solid"/>
            <a:round/>
            <a:headEnd len="sm" w="sm" type="none"/>
            <a:tailEnd len="sm" w="sm" type="none"/>
          </a:ln>
        </p:spPr>
      </p:pic>
      <p:sp>
        <p:nvSpPr>
          <p:cNvPr id="148" name="Google Shape;148;p7"/>
          <p:cNvSpPr txBox="1"/>
          <p:nvPr/>
        </p:nvSpPr>
        <p:spPr>
          <a:xfrm>
            <a:off x="8940800" y="1741714"/>
            <a:ext cx="325120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Figure:</a:t>
            </a:r>
            <a:r>
              <a:rPr lang="en-US" sz="1800">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A schematic representation of the mechanisms involved in the biosorption of potentially toxic elements</a:t>
            </a:r>
            <a:endParaRPr/>
          </a:p>
        </p:txBody>
      </p:sp>
      <p:sp>
        <p:nvSpPr>
          <p:cNvPr id="149" name="Google Shape;149;p7"/>
          <p:cNvSpPr/>
          <p:nvPr/>
        </p:nvSpPr>
        <p:spPr>
          <a:xfrm>
            <a:off x="188690" y="4549391"/>
            <a:ext cx="10450282" cy="1754326"/>
          </a:xfrm>
          <a:prstGeom prst="rect">
            <a:avLst/>
          </a:prstGeom>
          <a:noFill/>
          <a:ln>
            <a:noFill/>
          </a:ln>
        </p:spPr>
        <p:txBody>
          <a:bodyPr anchorCtr="0" anchor="t" bIns="45700" lIns="91425" spcFirstLastPara="1" rIns="91425" wrap="square" tIns="45700">
            <a:spAutoFit/>
          </a:bodyPr>
          <a:lstStyle/>
          <a:p>
            <a:pPr indent="-231775" lvl="0" marL="231775" marR="0" rtl="0" algn="just">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Extra-cellular polymeric substances present on the biomass cell wall can attach to heavy metals by mechanisms like </a:t>
            </a:r>
            <a:r>
              <a:rPr b="1" lang="en-US" sz="1800">
                <a:solidFill>
                  <a:schemeClr val="dk1"/>
                </a:solidFill>
                <a:latin typeface="Calibri"/>
                <a:ea typeface="Calibri"/>
                <a:cs typeface="Calibri"/>
                <a:sym typeface="Calibri"/>
              </a:rPr>
              <a:t>proton exchange or micro-precipitation of metals.</a:t>
            </a:r>
            <a:endParaRPr/>
          </a:p>
          <a:p>
            <a:pPr indent="-231775" lvl="0" marL="231775" marR="0" rtl="0" algn="just">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negative charge on bimass surfaces due to presence of carboxyl, amino, phosphoryl, and sulfo groups acts as potential ion exchange sites and metal sinks.</a:t>
            </a:r>
            <a:endParaRPr/>
          </a:p>
          <a:p>
            <a:pPr indent="-231775" lvl="0" marL="231775" marR="0" rtl="0" algn="just">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Microbes may initiate metal mobilization/immobilization by redox reactions by converting an element from its insoluble and stationary form in sediments into its mobile and soluble phase</a:t>
            </a:r>
            <a:endParaRPr b="1"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8"/>
          <p:cNvSpPr txBox="1"/>
          <p:nvPr>
            <p:ph type="title"/>
          </p:nvPr>
        </p:nvSpPr>
        <p:spPr>
          <a:xfrm>
            <a:off x="908595" y="-192367"/>
            <a:ext cx="10058400" cy="1208821"/>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chemeClr val="dk1"/>
              </a:buClr>
              <a:buSzPts val="4800"/>
              <a:buFont typeface="Arial Rounded"/>
              <a:buNone/>
            </a:pPr>
            <a:r>
              <a:rPr b="1" lang="en-US">
                <a:solidFill>
                  <a:schemeClr val="dk1"/>
                </a:solidFill>
                <a:latin typeface="Arial Rounded"/>
                <a:ea typeface="Arial Rounded"/>
                <a:cs typeface="Arial Rounded"/>
                <a:sym typeface="Arial Rounded"/>
              </a:rPr>
              <a:t>Potential Biosorbents</a:t>
            </a:r>
            <a:endParaRPr/>
          </a:p>
        </p:txBody>
      </p:sp>
      <p:sp>
        <p:nvSpPr>
          <p:cNvPr id="155" name="Google Shape;155;p8"/>
          <p:cNvSpPr/>
          <p:nvPr/>
        </p:nvSpPr>
        <p:spPr>
          <a:xfrm>
            <a:off x="203200" y="4227624"/>
            <a:ext cx="11161487" cy="1938992"/>
          </a:xfrm>
          <a:prstGeom prst="rect">
            <a:avLst/>
          </a:prstGeom>
          <a:noFill/>
          <a:ln>
            <a:noFill/>
          </a:ln>
        </p:spPr>
        <p:txBody>
          <a:bodyPr anchorCtr="0" anchor="t" bIns="45700" lIns="91425" spcFirstLastPara="1" rIns="91425" wrap="square" tIns="45700">
            <a:spAutoFit/>
          </a:bodyPr>
          <a:lstStyle/>
          <a:p>
            <a:pPr indent="-127000" lvl="0" marL="0" marR="0" rtl="0" algn="l">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Bacteria, are regarded as the most exceptional biosorbents among all other creatures due to their </a:t>
            </a:r>
            <a:r>
              <a:rPr b="1" lang="en-US" sz="2000">
                <a:solidFill>
                  <a:schemeClr val="dk1"/>
                </a:solidFill>
                <a:latin typeface="Calibri"/>
                <a:ea typeface="Calibri"/>
                <a:cs typeface="Calibri"/>
                <a:sym typeface="Calibri"/>
              </a:rPr>
              <a:t>high surface-to-volume ratios </a:t>
            </a:r>
            <a:r>
              <a:rPr lang="en-US" sz="2000">
                <a:solidFill>
                  <a:schemeClr val="dk1"/>
                </a:solidFill>
                <a:latin typeface="Calibri"/>
                <a:ea typeface="Calibri"/>
                <a:cs typeface="Calibri"/>
                <a:sym typeface="Calibri"/>
              </a:rPr>
              <a:t>and </a:t>
            </a:r>
            <a:r>
              <a:rPr b="1" lang="en-US" sz="2000">
                <a:solidFill>
                  <a:schemeClr val="dk1"/>
                </a:solidFill>
                <a:latin typeface="Calibri"/>
                <a:ea typeface="Calibri"/>
                <a:cs typeface="Calibri"/>
                <a:sym typeface="Calibri"/>
              </a:rPr>
              <a:t>numerous chemosorption active sites in their cell wall</a:t>
            </a:r>
            <a:r>
              <a:rPr lang="en-US" sz="2000">
                <a:solidFill>
                  <a:schemeClr val="dk1"/>
                </a:solidFill>
                <a:latin typeface="Calibri"/>
                <a:ea typeface="Calibri"/>
                <a:cs typeface="Calibri"/>
                <a:sym typeface="Calibri"/>
              </a:rPr>
              <a:t>, such as teichoic acid. </a:t>
            </a:r>
            <a:endParaRPr/>
          </a:p>
          <a:p>
            <a:pPr indent="-127000" lvl="0" marL="0" marR="0" rtl="0" algn="l">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Dead bacterial strains have also been considered as promising biosorbents, with biosorption abilities that exceed those of living cells of the same strain.</a:t>
            </a:r>
            <a:endParaRPr/>
          </a:p>
          <a:p>
            <a:pPr indent="-127000" lvl="0" marL="0" marR="0" rtl="0" algn="l">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The functional groups like amide, amine, carbonyl, carboxyl, etc. facilitate the removal of heavy metals.</a:t>
            </a:r>
            <a:endParaRPr/>
          </a:p>
        </p:txBody>
      </p:sp>
      <p:pic>
        <p:nvPicPr>
          <p:cNvPr id="156" name="Google Shape;156;p8"/>
          <p:cNvPicPr preferRelativeResize="0"/>
          <p:nvPr/>
        </p:nvPicPr>
        <p:blipFill rotWithShape="1">
          <a:blip r:embed="rId3">
            <a:alphaModFix/>
          </a:blip>
          <a:srcRect b="0" l="0" r="0" t="0"/>
          <a:stretch/>
        </p:blipFill>
        <p:spPr>
          <a:xfrm>
            <a:off x="2141765" y="923309"/>
            <a:ext cx="8497206" cy="321485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chemeClr val="dk1"/>
              </a:buClr>
              <a:buSzPts val="4800"/>
              <a:buFont typeface="Arial Rounded"/>
              <a:buNone/>
            </a:pPr>
            <a:r>
              <a:rPr b="1" lang="en-US">
                <a:solidFill>
                  <a:schemeClr val="dk1"/>
                </a:solidFill>
                <a:latin typeface="Arial Rounded"/>
                <a:ea typeface="Arial Rounded"/>
                <a:cs typeface="Arial Rounded"/>
                <a:sym typeface="Arial Rounded"/>
              </a:rPr>
              <a:t>Factors governing Biosorption and its mechanism</a:t>
            </a:r>
            <a:endParaRPr/>
          </a:p>
        </p:txBody>
      </p:sp>
      <p:grpSp>
        <p:nvGrpSpPr>
          <p:cNvPr id="162" name="Google Shape;162;p9"/>
          <p:cNvGrpSpPr/>
          <p:nvPr/>
        </p:nvGrpSpPr>
        <p:grpSpPr>
          <a:xfrm>
            <a:off x="1097280" y="1846204"/>
            <a:ext cx="10058399" cy="4005284"/>
            <a:chOff x="0" y="470"/>
            <a:chExt cx="10058399" cy="4005284"/>
          </a:xfrm>
        </p:grpSpPr>
        <p:sp>
          <p:nvSpPr>
            <p:cNvPr id="163" name="Google Shape;163;p9"/>
            <p:cNvSpPr/>
            <p:nvPr/>
          </p:nvSpPr>
          <p:spPr>
            <a:xfrm>
              <a:off x="0" y="470"/>
              <a:ext cx="10058399" cy="1331469"/>
            </a:xfrm>
            <a:prstGeom prst="roundRect">
              <a:avLst>
                <a:gd fmla="val 16667" name="adj"/>
              </a:avLst>
            </a:prstGeom>
            <a:solidFill>
              <a:srgbClr val="2D633A"/>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9"/>
            <p:cNvSpPr txBox="1"/>
            <p:nvPr/>
          </p:nvSpPr>
          <p:spPr>
            <a:xfrm>
              <a:off x="0" y="470"/>
              <a:ext cx="10058399" cy="1331469"/>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chemeClr val="lt1"/>
                </a:buClr>
                <a:buSzPts val="2400"/>
                <a:buFont typeface="Times New Roman"/>
                <a:buNone/>
              </a:pPr>
              <a:r>
                <a:rPr b="1" lang="en-US" sz="2400">
                  <a:solidFill>
                    <a:schemeClr val="lt1"/>
                  </a:solidFill>
                  <a:latin typeface="Times New Roman"/>
                  <a:ea typeface="Times New Roman"/>
                  <a:cs typeface="Times New Roman"/>
                  <a:sym typeface="Times New Roman"/>
                </a:rPr>
                <a:t>The mechanism of biosorption usually depends on different factors such as:</a:t>
              </a:r>
              <a:endParaRPr sz="2400">
                <a:solidFill>
                  <a:schemeClr val="lt1"/>
                </a:solidFill>
                <a:latin typeface="Times New Roman"/>
                <a:ea typeface="Times New Roman"/>
                <a:cs typeface="Times New Roman"/>
                <a:sym typeface="Times New Roman"/>
              </a:endParaRPr>
            </a:p>
          </p:txBody>
        </p:sp>
        <p:sp>
          <p:nvSpPr>
            <p:cNvPr id="165" name="Google Shape;165;p9"/>
            <p:cNvSpPr/>
            <p:nvPr/>
          </p:nvSpPr>
          <p:spPr>
            <a:xfrm>
              <a:off x="0" y="1345945"/>
              <a:ext cx="10058399" cy="1331469"/>
            </a:xfrm>
            <a:prstGeom prst="roundRect">
              <a:avLst>
                <a:gd fmla="val 16667" name="adj"/>
              </a:avLst>
            </a:prstGeom>
            <a:solidFill>
              <a:srgbClr val="83AD8C"/>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txBox="1"/>
            <p:nvPr/>
          </p:nvSpPr>
          <p:spPr>
            <a:xfrm>
              <a:off x="0" y="1345945"/>
              <a:ext cx="10058399" cy="1331469"/>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Times New Roman"/>
                <a:buNone/>
              </a:pPr>
              <a:r>
                <a:rPr lang="en-US" sz="2000">
                  <a:solidFill>
                    <a:schemeClr val="lt1"/>
                  </a:solidFill>
                  <a:latin typeface="Times New Roman"/>
                  <a:ea typeface="Times New Roman"/>
                  <a:cs typeface="Times New Roman"/>
                  <a:sym typeface="Times New Roman"/>
                </a:rPr>
                <a:t>The biomass that is going to be used for the removal of potentially toxic elements. For instance, the composition of the cell wall is different in bacteria (peptidoglycan), fungi (chitin), and algae (alginate, sulfonated polysaccharides); therefore, variation in the presence of functional groups on the surface of the cell wall is responsible for the difference in mechanisms.</a:t>
              </a:r>
              <a:endParaRPr/>
            </a:p>
          </p:txBody>
        </p:sp>
        <p:sp>
          <p:nvSpPr>
            <p:cNvPr id="167" name="Google Shape;167;p9"/>
            <p:cNvSpPr/>
            <p:nvPr/>
          </p:nvSpPr>
          <p:spPr>
            <a:xfrm>
              <a:off x="0" y="2674285"/>
              <a:ext cx="10058399" cy="1331469"/>
            </a:xfrm>
            <a:prstGeom prst="roundRect">
              <a:avLst>
                <a:gd fmla="val 16667" name="adj"/>
              </a:avLst>
            </a:prstGeom>
            <a:solidFill>
              <a:srgbClr val="83AD8C"/>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
            <p:cNvSpPr txBox="1"/>
            <p:nvPr/>
          </p:nvSpPr>
          <p:spPr>
            <a:xfrm>
              <a:off x="0" y="2674285"/>
              <a:ext cx="10058399" cy="1331469"/>
            </a:xfrm>
            <a:prstGeom prst="rect">
              <a:avLst/>
            </a:prstGeom>
            <a:noFill/>
            <a:ln>
              <a:noFill/>
            </a:ln>
          </p:spPr>
          <p:txBody>
            <a:bodyPr anchorCtr="0" anchor="ctr" bIns="76200" lIns="76200" spcFirstLastPara="1" rIns="76200" wrap="square" tIns="76200">
              <a:noAutofit/>
            </a:bodyPr>
            <a:lstStyle/>
            <a:p>
              <a:pPr indent="0" lvl="0" marL="0" marR="0" rtl="0" algn="l">
                <a:lnSpc>
                  <a:spcPct val="90000"/>
                </a:lnSpc>
                <a:spcBef>
                  <a:spcPts val="0"/>
                </a:spcBef>
                <a:spcAft>
                  <a:spcPts val="0"/>
                </a:spcAft>
                <a:buClr>
                  <a:schemeClr val="lt1"/>
                </a:buClr>
                <a:buSzPts val="2000"/>
                <a:buFont typeface="Times New Roman"/>
                <a:buNone/>
              </a:pPr>
              <a:r>
                <a:rPr lang="en-US" sz="2000">
                  <a:solidFill>
                    <a:schemeClr val="lt1"/>
                  </a:solidFill>
                  <a:latin typeface="Times New Roman"/>
                  <a:ea typeface="Times New Roman"/>
                  <a:cs typeface="Times New Roman"/>
                  <a:sym typeface="Times New Roman"/>
                </a:rPr>
                <a:t>Apart from the cell wall, extracellular polymer substances secreted by microorganisms are also found to play an important role in biosorption.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grpSp>
        <p:nvGrpSpPr>
          <p:cNvPr id="173" name="Google Shape;173;p10"/>
          <p:cNvGrpSpPr/>
          <p:nvPr/>
        </p:nvGrpSpPr>
        <p:grpSpPr>
          <a:xfrm>
            <a:off x="4946752" y="142875"/>
            <a:ext cx="2050844" cy="6105524"/>
            <a:chOff x="4946752" y="0"/>
            <a:chExt cx="2050844" cy="6105524"/>
          </a:xfrm>
        </p:grpSpPr>
        <p:sp>
          <p:nvSpPr>
            <p:cNvPr id="174" name="Google Shape;174;p10"/>
            <p:cNvSpPr/>
            <p:nvPr/>
          </p:nvSpPr>
          <p:spPr>
            <a:xfrm>
              <a:off x="4946752" y="0"/>
              <a:ext cx="1604969" cy="1605142"/>
            </a:xfrm>
            <a:custGeom>
              <a:rect b="b" l="l" r="r" t="t"/>
              <a:pathLst>
                <a:path extrusionOk="0" h="120000" w="120000">
                  <a:moveTo>
                    <a:pt x="111588" y="60000"/>
                  </a:moveTo>
                  <a:lnTo>
                    <a:pt x="98412" y="60000"/>
                  </a:lnTo>
                  <a:lnTo>
                    <a:pt x="98412" y="60000"/>
                  </a:lnTo>
                  <a:cubicBezTo>
                    <a:pt x="98412" y="40376"/>
                    <a:pt x="83621" y="23907"/>
                    <a:pt x="64111" y="21806"/>
                  </a:cubicBezTo>
                  <a:cubicBezTo>
                    <a:pt x="44600" y="19706"/>
                    <a:pt x="26644" y="32650"/>
                    <a:pt x="22468" y="51825"/>
                  </a:cubicBezTo>
                  <a:cubicBezTo>
                    <a:pt x="18292" y="71000"/>
                    <a:pt x="29239" y="90239"/>
                    <a:pt x="47856" y="96444"/>
                  </a:cubicBezTo>
                  <a:lnTo>
                    <a:pt x="47295" y="88507"/>
                  </a:lnTo>
                  <a:lnTo>
                    <a:pt x="63170" y="104890"/>
                  </a:lnTo>
                  <a:lnTo>
                    <a:pt x="49408" y="118429"/>
                  </a:lnTo>
                  <a:lnTo>
                    <a:pt x="48839" y="110367"/>
                  </a:lnTo>
                  <a:lnTo>
                    <a:pt x="48839" y="110367"/>
                  </a:lnTo>
                  <a:cubicBezTo>
                    <a:pt x="22442" y="104517"/>
                    <a:pt x="5039" y="79279"/>
                    <a:pt x="8956" y="52526"/>
                  </a:cubicBezTo>
                  <a:cubicBezTo>
                    <a:pt x="12873" y="25773"/>
                    <a:pt x="36781" y="6584"/>
                    <a:pt x="63747" y="8547"/>
                  </a:cubicBezTo>
                  <a:cubicBezTo>
                    <a:pt x="90713" y="10511"/>
                    <a:pt x="111588" y="32962"/>
                    <a:pt x="111588" y="60000"/>
                  </a:cubicBezTo>
                  <a:close/>
                </a:path>
              </a:pathLst>
            </a:custGeom>
            <a:solidFill>
              <a:srgbClr val="2383C6"/>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0"/>
            <p:cNvSpPr/>
            <p:nvPr/>
          </p:nvSpPr>
          <p:spPr>
            <a:xfrm>
              <a:off x="5299298" y="581245"/>
              <a:ext cx="895663" cy="44753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0"/>
            <p:cNvSpPr txBox="1"/>
            <p:nvPr/>
          </p:nvSpPr>
          <p:spPr>
            <a:xfrm>
              <a:off x="5299298" y="581245"/>
              <a:ext cx="895663" cy="447534"/>
            </a:xfrm>
            <a:prstGeom prst="rect">
              <a:avLst/>
            </a:prstGeom>
            <a:noFill/>
            <a:ln>
              <a:noFill/>
            </a:ln>
          </p:spPr>
          <p:txBody>
            <a:bodyPr anchorCtr="0" anchor="ctr" bIns="6350" lIns="6350" spcFirstLastPara="1" rIns="6350" wrap="square" tIns="6350">
              <a:noAutofit/>
            </a:bodyPr>
            <a:lstStyle/>
            <a:p>
              <a:pPr indent="0" lvl="0" marL="0" marR="0" rtl="0" algn="ctr">
                <a:lnSpc>
                  <a:spcPct val="90000"/>
                </a:lnSpc>
                <a:spcBef>
                  <a:spcPts val="0"/>
                </a:spcBef>
                <a:spcAft>
                  <a:spcPts val="0"/>
                </a:spcAft>
                <a:buClr>
                  <a:schemeClr val="dk1"/>
                </a:buClr>
                <a:buSzPts val="1000"/>
                <a:buFont typeface="Calibri"/>
                <a:buNone/>
              </a:pPr>
              <a:r>
                <a:rPr lang="en-US" sz="1000">
                  <a:solidFill>
                    <a:schemeClr val="dk1"/>
                  </a:solidFill>
                  <a:latin typeface="Calibri"/>
                  <a:ea typeface="Calibri"/>
                  <a:cs typeface="Calibri"/>
                  <a:sym typeface="Calibri"/>
                </a:rPr>
                <a:t>pH </a:t>
              </a:r>
              <a:endParaRPr/>
            </a:p>
          </p:txBody>
        </p:sp>
        <p:sp>
          <p:nvSpPr>
            <p:cNvPr id="177" name="Google Shape;177;p10"/>
            <p:cNvSpPr/>
            <p:nvPr/>
          </p:nvSpPr>
          <p:spPr>
            <a:xfrm>
              <a:off x="5392627" y="922544"/>
              <a:ext cx="1604969" cy="1605142"/>
            </a:xfrm>
            <a:custGeom>
              <a:rect b="b" l="l" r="r" t="t"/>
              <a:pathLst>
                <a:path extrusionOk="0" h="120000" w="120000">
                  <a:moveTo>
                    <a:pt x="23519" y="23523"/>
                  </a:moveTo>
                  <a:lnTo>
                    <a:pt x="23519" y="23523"/>
                  </a:lnTo>
                  <a:cubicBezTo>
                    <a:pt x="39049" y="7991"/>
                    <a:pt x="62710" y="3996"/>
                    <a:pt x="82479" y="13566"/>
                  </a:cubicBezTo>
                  <a:cubicBezTo>
                    <a:pt x="102248" y="23137"/>
                    <a:pt x="113790" y="44176"/>
                    <a:pt x="111239" y="65991"/>
                  </a:cubicBezTo>
                  <a:cubicBezTo>
                    <a:pt x="108688" y="87807"/>
                    <a:pt x="92605" y="105615"/>
                    <a:pt x="71161" y="110367"/>
                  </a:cubicBezTo>
                  <a:lnTo>
                    <a:pt x="70592" y="118429"/>
                  </a:lnTo>
                  <a:lnTo>
                    <a:pt x="56830" y="104890"/>
                  </a:lnTo>
                  <a:lnTo>
                    <a:pt x="72705" y="88507"/>
                  </a:lnTo>
                  <a:lnTo>
                    <a:pt x="72144" y="96444"/>
                  </a:lnTo>
                  <a:cubicBezTo>
                    <a:pt x="87199" y="91427"/>
                    <a:pt x="97618" y="77668"/>
                    <a:pt x="98369" y="61817"/>
                  </a:cubicBezTo>
                  <a:cubicBezTo>
                    <a:pt x="99120" y="45966"/>
                    <a:pt x="90046" y="31284"/>
                    <a:pt x="75534" y="24867"/>
                  </a:cubicBezTo>
                  <a:cubicBezTo>
                    <a:pt x="61021" y="18449"/>
                    <a:pt x="44056" y="21617"/>
                    <a:pt x="32836" y="32839"/>
                  </a:cubicBezTo>
                  <a:close/>
                </a:path>
              </a:pathLst>
            </a:custGeom>
            <a:solidFill>
              <a:srgbClr val="26C4CB"/>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0"/>
            <p:cNvSpPr/>
            <p:nvPr/>
          </p:nvSpPr>
          <p:spPr>
            <a:xfrm>
              <a:off x="5746979" y="1505622"/>
              <a:ext cx="895663" cy="44753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0"/>
            <p:cNvSpPr txBox="1"/>
            <p:nvPr/>
          </p:nvSpPr>
          <p:spPr>
            <a:xfrm>
              <a:off x="5746979" y="1505622"/>
              <a:ext cx="895663" cy="447534"/>
            </a:xfrm>
            <a:prstGeom prst="rect">
              <a:avLst/>
            </a:prstGeom>
            <a:noFill/>
            <a:ln>
              <a:noFill/>
            </a:ln>
          </p:spPr>
          <p:txBody>
            <a:bodyPr anchorCtr="0" anchor="ctr" bIns="6350" lIns="6350" spcFirstLastPara="1" rIns="6350" wrap="square" tIns="6350">
              <a:noAutofit/>
            </a:bodyPr>
            <a:lstStyle/>
            <a:p>
              <a:pPr indent="0" lvl="0" marL="0" marR="0" rtl="0" algn="ctr">
                <a:lnSpc>
                  <a:spcPct val="90000"/>
                </a:lnSpc>
                <a:spcBef>
                  <a:spcPts val="0"/>
                </a:spcBef>
                <a:spcAft>
                  <a:spcPts val="0"/>
                </a:spcAft>
                <a:buClr>
                  <a:schemeClr val="dk1"/>
                </a:buClr>
                <a:buSzPts val="1000"/>
                <a:buFont typeface="Calibri"/>
                <a:buNone/>
              </a:pPr>
              <a:r>
                <a:rPr lang="en-US" sz="1000">
                  <a:solidFill>
                    <a:schemeClr val="dk1"/>
                  </a:solidFill>
                  <a:latin typeface="Calibri"/>
                  <a:ea typeface="Calibri"/>
                  <a:cs typeface="Calibri"/>
                  <a:sym typeface="Calibri"/>
                </a:rPr>
                <a:t>temperature </a:t>
              </a:r>
              <a:endParaRPr/>
            </a:p>
          </p:txBody>
        </p:sp>
        <p:sp>
          <p:nvSpPr>
            <p:cNvPr id="180" name="Google Shape;180;p10"/>
            <p:cNvSpPr/>
            <p:nvPr/>
          </p:nvSpPr>
          <p:spPr>
            <a:xfrm>
              <a:off x="4946752" y="1848142"/>
              <a:ext cx="1604969" cy="1605142"/>
            </a:xfrm>
            <a:custGeom>
              <a:rect b="b" l="l" r="r" t="t"/>
              <a:pathLst>
                <a:path extrusionOk="0" h="120000" w="120000">
                  <a:moveTo>
                    <a:pt x="96481" y="23523"/>
                  </a:moveTo>
                  <a:lnTo>
                    <a:pt x="87164" y="32839"/>
                  </a:lnTo>
                  <a:lnTo>
                    <a:pt x="87164" y="32839"/>
                  </a:lnTo>
                  <a:cubicBezTo>
                    <a:pt x="75944" y="21617"/>
                    <a:pt x="58979" y="18449"/>
                    <a:pt x="44466" y="24867"/>
                  </a:cubicBezTo>
                  <a:cubicBezTo>
                    <a:pt x="29954" y="31284"/>
                    <a:pt x="20880" y="45966"/>
                    <a:pt x="21631" y="61817"/>
                  </a:cubicBezTo>
                  <a:cubicBezTo>
                    <a:pt x="22382" y="77668"/>
                    <a:pt x="32801" y="91427"/>
                    <a:pt x="47856" y="96444"/>
                  </a:cubicBezTo>
                  <a:lnTo>
                    <a:pt x="47295" y="88507"/>
                  </a:lnTo>
                  <a:lnTo>
                    <a:pt x="63170" y="104890"/>
                  </a:lnTo>
                  <a:lnTo>
                    <a:pt x="49408" y="118429"/>
                  </a:lnTo>
                  <a:lnTo>
                    <a:pt x="48839" y="110367"/>
                  </a:lnTo>
                  <a:lnTo>
                    <a:pt x="48839" y="110367"/>
                  </a:lnTo>
                  <a:cubicBezTo>
                    <a:pt x="27395" y="105615"/>
                    <a:pt x="11312" y="87807"/>
                    <a:pt x="8761" y="65991"/>
                  </a:cubicBezTo>
                  <a:cubicBezTo>
                    <a:pt x="6210" y="44176"/>
                    <a:pt x="17752" y="23137"/>
                    <a:pt x="37521" y="13566"/>
                  </a:cubicBezTo>
                  <a:cubicBezTo>
                    <a:pt x="57290" y="3996"/>
                    <a:pt x="80951" y="7991"/>
                    <a:pt x="96481" y="23523"/>
                  </a:cubicBezTo>
                  <a:close/>
                </a:path>
              </a:pathLst>
            </a:custGeom>
            <a:solidFill>
              <a:schemeClr val="accent4"/>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0"/>
            <p:cNvSpPr/>
            <p:nvPr/>
          </p:nvSpPr>
          <p:spPr>
            <a:xfrm>
              <a:off x="5299298" y="2429388"/>
              <a:ext cx="895663" cy="44753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0"/>
            <p:cNvSpPr txBox="1"/>
            <p:nvPr/>
          </p:nvSpPr>
          <p:spPr>
            <a:xfrm>
              <a:off x="5299298" y="2429388"/>
              <a:ext cx="895663" cy="447534"/>
            </a:xfrm>
            <a:prstGeom prst="rect">
              <a:avLst/>
            </a:prstGeom>
            <a:noFill/>
            <a:ln>
              <a:noFill/>
            </a:ln>
          </p:spPr>
          <p:txBody>
            <a:bodyPr anchorCtr="0" anchor="ctr" bIns="6350" lIns="6350" spcFirstLastPara="1" rIns="6350" wrap="square" tIns="6350">
              <a:noAutofit/>
            </a:bodyPr>
            <a:lstStyle/>
            <a:p>
              <a:pPr indent="0" lvl="0" marL="0" marR="0" rtl="0" algn="ctr">
                <a:lnSpc>
                  <a:spcPct val="90000"/>
                </a:lnSpc>
                <a:spcBef>
                  <a:spcPts val="0"/>
                </a:spcBef>
                <a:spcAft>
                  <a:spcPts val="0"/>
                </a:spcAft>
                <a:buClr>
                  <a:schemeClr val="dk1"/>
                </a:buClr>
                <a:buSzPts val="1000"/>
                <a:buFont typeface="Calibri"/>
                <a:buNone/>
              </a:pPr>
              <a:r>
                <a:rPr lang="en-US" sz="1000">
                  <a:solidFill>
                    <a:schemeClr val="dk1"/>
                  </a:solidFill>
                  <a:latin typeface="Calibri"/>
                  <a:ea typeface="Calibri"/>
                  <a:cs typeface="Calibri"/>
                  <a:sym typeface="Calibri"/>
                </a:rPr>
                <a:t>initial metallic concentration</a:t>
              </a:r>
              <a:endParaRPr/>
            </a:p>
          </p:txBody>
        </p:sp>
        <p:sp>
          <p:nvSpPr>
            <p:cNvPr id="183" name="Google Shape;183;p10"/>
            <p:cNvSpPr/>
            <p:nvPr/>
          </p:nvSpPr>
          <p:spPr>
            <a:xfrm>
              <a:off x="5392627" y="2772518"/>
              <a:ext cx="1604969" cy="1605142"/>
            </a:xfrm>
            <a:custGeom>
              <a:rect b="b" l="l" r="r" t="t"/>
              <a:pathLst>
                <a:path extrusionOk="0" h="120000" w="120000">
                  <a:moveTo>
                    <a:pt x="23519" y="23523"/>
                  </a:moveTo>
                  <a:lnTo>
                    <a:pt x="23519" y="23523"/>
                  </a:lnTo>
                  <a:cubicBezTo>
                    <a:pt x="39049" y="7991"/>
                    <a:pt x="62710" y="3996"/>
                    <a:pt x="82479" y="13566"/>
                  </a:cubicBezTo>
                  <a:cubicBezTo>
                    <a:pt x="102248" y="23137"/>
                    <a:pt x="113790" y="44176"/>
                    <a:pt x="111239" y="65991"/>
                  </a:cubicBezTo>
                  <a:cubicBezTo>
                    <a:pt x="108688" y="87807"/>
                    <a:pt x="92605" y="105615"/>
                    <a:pt x="71161" y="110367"/>
                  </a:cubicBezTo>
                  <a:lnTo>
                    <a:pt x="70592" y="118429"/>
                  </a:lnTo>
                  <a:lnTo>
                    <a:pt x="56830" y="104890"/>
                  </a:lnTo>
                  <a:lnTo>
                    <a:pt x="72705" y="88507"/>
                  </a:lnTo>
                  <a:lnTo>
                    <a:pt x="72144" y="96444"/>
                  </a:lnTo>
                  <a:cubicBezTo>
                    <a:pt x="87199" y="91427"/>
                    <a:pt x="97618" y="77668"/>
                    <a:pt x="98369" y="61817"/>
                  </a:cubicBezTo>
                  <a:cubicBezTo>
                    <a:pt x="99120" y="45966"/>
                    <a:pt x="90046" y="31284"/>
                    <a:pt x="75534" y="24867"/>
                  </a:cubicBezTo>
                  <a:cubicBezTo>
                    <a:pt x="61021" y="18449"/>
                    <a:pt x="44056" y="21617"/>
                    <a:pt x="32836" y="32839"/>
                  </a:cubicBezTo>
                  <a:close/>
                </a:path>
              </a:pathLst>
            </a:custGeom>
            <a:solidFill>
              <a:srgbClr val="3B8850"/>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0"/>
            <p:cNvSpPr/>
            <p:nvPr/>
          </p:nvSpPr>
          <p:spPr>
            <a:xfrm>
              <a:off x="5746979" y="3353764"/>
              <a:ext cx="895663" cy="44753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0"/>
            <p:cNvSpPr txBox="1"/>
            <p:nvPr/>
          </p:nvSpPr>
          <p:spPr>
            <a:xfrm>
              <a:off x="5746979" y="3353764"/>
              <a:ext cx="895663" cy="447534"/>
            </a:xfrm>
            <a:prstGeom prst="rect">
              <a:avLst/>
            </a:prstGeom>
            <a:noFill/>
            <a:ln>
              <a:noFill/>
            </a:ln>
          </p:spPr>
          <p:txBody>
            <a:bodyPr anchorCtr="0" anchor="ctr" bIns="6350" lIns="6350" spcFirstLastPara="1" rIns="6350" wrap="square" tIns="6350">
              <a:noAutofit/>
            </a:bodyPr>
            <a:lstStyle/>
            <a:p>
              <a:pPr indent="0" lvl="0" marL="0" marR="0" rtl="0" algn="ctr">
                <a:lnSpc>
                  <a:spcPct val="90000"/>
                </a:lnSpc>
                <a:spcBef>
                  <a:spcPts val="0"/>
                </a:spcBef>
                <a:spcAft>
                  <a:spcPts val="0"/>
                </a:spcAft>
                <a:buClr>
                  <a:schemeClr val="dk1"/>
                </a:buClr>
                <a:buSzPts val="1000"/>
                <a:buFont typeface="Calibri"/>
                <a:buNone/>
              </a:pPr>
              <a:r>
                <a:rPr lang="en-US" sz="1000">
                  <a:solidFill>
                    <a:schemeClr val="dk1"/>
                  </a:solidFill>
                  <a:latin typeface="Calibri"/>
                  <a:ea typeface="Calibri"/>
                  <a:cs typeface="Calibri"/>
                  <a:sym typeface="Calibri"/>
                </a:rPr>
                <a:t>contact time </a:t>
              </a:r>
              <a:endParaRPr/>
            </a:p>
          </p:txBody>
        </p:sp>
        <p:sp>
          <p:nvSpPr>
            <p:cNvPr id="186" name="Google Shape;186;p10"/>
            <p:cNvSpPr/>
            <p:nvPr/>
          </p:nvSpPr>
          <p:spPr>
            <a:xfrm>
              <a:off x="4946752" y="3695674"/>
              <a:ext cx="1604969" cy="1605142"/>
            </a:xfrm>
            <a:custGeom>
              <a:rect b="b" l="l" r="r" t="t"/>
              <a:pathLst>
                <a:path extrusionOk="0" h="120000" w="120000">
                  <a:moveTo>
                    <a:pt x="96481" y="23523"/>
                  </a:moveTo>
                  <a:lnTo>
                    <a:pt x="87164" y="32839"/>
                  </a:lnTo>
                  <a:lnTo>
                    <a:pt x="87164" y="32839"/>
                  </a:lnTo>
                  <a:cubicBezTo>
                    <a:pt x="75944" y="21617"/>
                    <a:pt x="58979" y="18449"/>
                    <a:pt x="44466" y="24867"/>
                  </a:cubicBezTo>
                  <a:cubicBezTo>
                    <a:pt x="29954" y="31284"/>
                    <a:pt x="20880" y="45966"/>
                    <a:pt x="21631" y="61817"/>
                  </a:cubicBezTo>
                  <a:cubicBezTo>
                    <a:pt x="22382" y="77668"/>
                    <a:pt x="32801" y="91427"/>
                    <a:pt x="47856" y="96444"/>
                  </a:cubicBezTo>
                  <a:lnTo>
                    <a:pt x="47295" y="88507"/>
                  </a:lnTo>
                  <a:lnTo>
                    <a:pt x="63170" y="104890"/>
                  </a:lnTo>
                  <a:lnTo>
                    <a:pt x="49408" y="118429"/>
                  </a:lnTo>
                  <a:lnTo>
                    <a:pt x="48839" y="110367"/>
                  </a:lnTo>
                  <a:lnTo>
                    <a:pt x="48839" y="110367"/>
                  </a:lnTo>
                  <a:cubicBezTo>
                    <a:pt x="27395" y="105615"/>
                    <a:pt x="11312" y="87807"/>
                    <a:pt x="8761" y="65991"/>
                  </a:cubicBezTo>
                  <a:cubicBezTo>
                    <a:pt x="6210" y="44176"/>
                    <a:pt x="17752" y="23137"/>
                    <a:pt x="37521" y="13566"/>
                  </a:cubicBezTo>
                  <a:cubicBezTo>
                    <a:pt x="57290" y="3996"/>
                    <a:pt x="80951" y="7991"/>
                    <a:pt x="96481" y="23523"/>
                  </a:cubicBezTo>
                  <a:close/>
                </a:path>
              </a:pathLst>
            </a:custGeom>
            <a:solidFill>
              <a:srgbClr val="61A39F"/>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0"/>
            <p:cNvSpPr/>
            <p:nvPr/>
          </p:nvSpPr>
          <p:spPr>
            <a:xfrm>
              <a:off x="5299298" y="4276920"/>
              <a:ext cx="895663" cy="44753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0"/>
            <p:cNvSpPr txBox="1"/>
            <p:nvPr/>
          </p:nvSpPr>
          <p:spPr>
            <a:xfrm>
              <a:off x="5299298" y="4276920"/>
              <a:ext cx="895663" cy="447534"/>
            </a:xfrm>
            <a:prstGeom prst="rect">
              <a:avLst/>
            </a:prstGeom>
            <a:noFill/>
            <a:ln>
              <a:noFill/>
            </a:ln>
          </p:spPr>
          <p:txBody>
            <a:bodyPr anchorCtr="0" anchor="ctr" bIns="6350" lIns="6350" spcFirstLastPara="1" rIns="6350" wrap="square" tIns="6350">
              <a:noAutofit/>
            </a:bodyPr>
            <a:lstStyle/>
            <a:p>
              <a:pPr indent="0" lvl="0" marL="0" marR="0" rtl="0" algn="ctr">
                <a:lnSpc>
                  <a:spcPct val="90000"/>
                </a:lnSpc>
                <a:spcBef>
                  <a:spcPts val="0"/>
                </a:spcBef>
                <a:spcAft>
                  <a:spcPts val="0"/>
                </a:spcAft>
                <a:buClr>
                  <a:schemeClr val="dk1"/>
                </a:buClr>
                <a:buSzPts val="1000"/>
                <a:buFont typeface="Calibri"/>
                <a:buNone/>
              </a:pPr>
              <a:r>
                <a:rPr lang="en-US" sz="1000">
                  <a:solidFill>
                    <a:schemeClr val="dk1"/>
                  </a:solidFill>
                  <a:latin typeface="Calibri"/>
                  <a:ea typeface="Calibri"/>
                  <a:cs typeface="Calibri"/>
                  <a:sym typeface="Calibri"/>
                </a:rPr>
                <a:t>competing ions/co-ions and </a:t>
              </a:r>
              <a:endParaRPr/>
            </a:p>
          </p:txBody>
        </p:sp>
        <p:sp>
          <p:nvSpPr>
            <p:cNvPr id="189" name="Google Shape;189;p10"/>
            <p:cNvSpPr/>
            <p:nvPr/>
          </p:nvSpPr>
          <p:spPr>
            <a:xfrm>
              <a:off x="5506730" y="4725676"/>
              <a:ext cx="1378870" cy="1379848"/>
            </a:xfrm>
            <a:prstGeom prst="blockArc">
              <a:avLst>
                <a:gd fmla="val 13500000" name="adj1"/>
                <a:gd fmla="val 10800000" name="adj2"/>
                <a:gd fmla="val 12740" name="adj3"/>
              </a:avLst>
            </a:prstGeom>
            <a:solidFill>
              <a:srgbClr val="2383C6"/>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0"/>
            <p:cNvSpPr/>
            <p:nvPr/>
          </p:nvSpPr>
          <p:spPr>
            <a:xfrm>
              <a:off x="5746979" y="5201296"/>
              <a:ext cx="895663" cy="44753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0"/>
            <p:cNvSpPr txBox="1"/>
            <p:nvPr/>
          </p:nvSpPr>
          <p:spPr>
            <a:xfrm>
              <a:off x="5746979" y="5201296"/>
              <a:ext cx="895663" cy="447534"/>
            </a:xfrm>
            <a:prstGeom prst="rect">
              <a:avLst/>
            </a:prstGeom>
            <a:noFill/>
            <a:ln>
              <a:noFill/>
            </a:ln>
          </p:spPr>
          <p:txBody>
            <a:bodyPr anchorCtr="0" anchor="ctr" bIns="6350" lIns="6350" spcFirstLastPara="1" rIns="6350" wrap="square" tIns="6350">
              <a:noAutofit/>
            </a:bodyPr>
            <a:lstStyle/>
            <a:p>
              <a:pPr indent="0" lvl="0" marL="0" marR="0" rtl="0" algn="ctr">
                <a:lnSpc>
                  <a:spcPct val="90000"/>
                </a:lnSpc>
                <a:spcBef>
                  <a:spcPts val="0"/>
                </a:spcBef>
                <a:spcAft>
                  <a:spcPts val="0"/>
                </a:spcAft>
                <a:buClr>
                  <a:schemeClr val="dk1"/>
                </a:buClr>
                <a:buSzPts val="1000"/>
                <a:buFont typeface="Calibri"/>
                <a:buNone/>
              </a:pPr>
              <a:r>
                <a:rPr lang="en-US" sz="1000">
                  <a:solidFill>
                    <a:schemeClr val="dk1"/>
                  </a:solidFill>
                  <a:latin typeface="Calibri"/>
                  <a:ea typeface="Calibri"/>
                  <a:cs typeface="Calibri"/>
                  <a:sym typeface="Calibri"/>
                </a:rPr>
                <a:t>biosorbent dosage</a:t>
              </a:r>
              <a:endParaRPr/>
            </a:p>
          </p:txBody>
        </p:sp>
      </p:grpSp>
      <p:sp>
        <p:nvSpPr>
          <p:cNvPr id="192" name="Google Shape;192;p10"/>
          <p:cNvSpPr txBox="1"/>
          <p:nvPr/>
        </p:nvSpPr>
        <p:spPr>
          <a:xfrm>
            <a:off x="219075" y="828674"/>
            <a:ext cx="4400550"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Limelight"/>
                <a:ea typeface="Limelight"/>
                <a:cs typeface="Limelight"/>
                <a:sym typeface="Limelight"/>
              </a:rPr>
              <a:t>Factors Affecting </a:t>
            </a:r>
            <a:endParaRPr/>
          </a:p>
          <a:p>
            <a:pPr indent="0" lvl="0" marL="0" marR="0" rtl="0" algn="l">
              <a:spcBef>
                <a:spcPts val="0"/>
              </a:spcBef>
              <a:spcAft>
                <a:spcPts val="0"/>
              </a:spcAft>
              <a:buNone/>
            </a:pPr>
            <a:r>
              <a:rPr b="1" lang="en-US" sz="3200">
                <a:solidFill>
                  <a:schemeClr val="dk1"/>
                </a:solidFill>
                <a:latin typeface="Limelight"/>
                <a:ea typeface="Limelight"/>
                <a:cs typeface="Limelight"/>
                <a:sym typeface="Limelight"/>
              </a:rPr>
              <a:t>Biosorption</a:t>
            </a:r>
            <a:endParaRPr sz="3200">
              <a:solidFill>
                <a:schemeClr val="dk1"/>
              </a:solidFill>
              <a:latin typeface="Limelight"/>
              <a:ea typeface="Limelight"/>
              <a:cs typeface="Limelight"/>
              <a:sym typeface="Limelight"/>
            </a:endParaRPr>
          </a:p>
        </p:txBody>
      </p:sp>
      <p:sp>
        <p:nvSpPr>
          <p:cNvPr id="193" name="Google Shape;193;p10"/>
          <p:cNvSpPr txBox="1"/>
          <p:nvPr/>
        </p:nvSpPr>
        <p:spPr>
          <a:xfrm>
            <a:off x="7018019" y="1905892"/>
            <a:ext cx="5021581" cy="193899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000">
                <a:solidFill>
                  <a:schemeClr val="dk1"/>
                </a:solidFill>
                <a:latin typeface="Times New Roman"/>
                <a:ea typeface="Times New Roman"/>
                <a:cs typeface="Times New Roman"/>
                <a:sym typeface="Times New Roman"/>
              </a:rPr>
              <a:t>Among these factors, </a:t>
            </a:r>
            <a:r>
              <a:rPr b="1" lang="en-US" sz="2000">
                <a:solidFill>
                  <a:srgbClr val="FF0000"/>
                </a:solidFill>
                <a:latin typeface="Times New Roman"/>
                <a:ea typeface="Times New Roman"/>
                <a:cs typeface="Times New Roman"/>
                <a:sym typeface="Times New Roman"/>
              </a:rPr>
              <a:t>pH</a:t>
            </a:r>
            <a:r>
              <a:rPr b="1" lang="en-US" sz="2000">
                <a:solidFill>
                  <a:schemeClr val="dk1"/>
                </a:solidFill>
                <a:latin typeface="Times New Roman"/>
                <a:ea typeface="Times New Roman"/>
                <a:cs typeface="Times New Roman"/>
                <a:sym typeface="Times New Roman"/>
              </a:rPr>
              <a:t> is the most important factor. </a:t>
            </a:r>
            <a:endParaRPr/>
          </a:p>
          <a:p>
            <a:pPr indent="-342900" lvl="0" marL="342900" marR="0" rtl="0" algn="just">
              <a:spcBef>
                <a:spcPts val="0"/>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Increase in pH also increases the biosorption of metal ions, however,</a:t>
            </a:r>
            <a:endParaRPr/>
          </a:p>
          <a:p>
            <a:pPr indent="-342900" lvl="0" marL="342900" marR="0" rtl="0" algn="just">
              <a:spcBef>
                <a:spcPts val="0"/>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Too much increase in pH can cause precipitation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1"/>
          <p:cNvSpPr txBox="1"/>
          <p:nvPr>
            <p:ph type="title"/>
          </p:nvPr>
        </p:nvSpPr>
        <p:spPr>
          <a:xfrm>
            <a:off x="1097280" y="490012"/>
            <a:ext cx="10058400" cy="904461"/>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85000"/>
              </a:lnSpc>
              <a:spcBef>
                <a:spcPts val="0"/>
              </a:spcBef>
              <a:spcAft>
                <a:spcPts val="0"/>
              </a:spcAft>
              <a:buClr>
                <a:schemeClr val="dk1"/>
              </a:buClr>
              <a:buSzPct val="100000"/>
              <a:buFont typeface="Arial Rounded"/>
              <a:buNone/>
            </a:pPr>
            <a:r>
              <a:rPr b="1" lang="en-US">
                <a:solidFill>
                  <a:schemeClr val="dk1"/>
                </a:solidFill>
                <a:latin typeface="Arial Rounded"/>
                <a:ea typeface="Arial Rounded"/>
                <a:cs typeface="Arial Rounded"/>
                <a:sym typeface="Arial Rounded"/>
              </a:rPr>
              <a:t>Advantages &amp; Disadvantages of Biosorption</a:t>
            </a:r>
            <a:endParaRPr/>
          </a:p>
        </p:txBody>
      </p:sp>
      <p:graphicFrame>
        <p:nvGraphicFramePr>
          <p:cNvPr id="199" name="Google Shape;199;p11"/>
          <p:cNvGraphicFramePr/>
          <p:nvPr/>
        </p:nvGraphicFramePr>
        <p:xfrm>
          <a:off x="114562" y="1394473"/>
          <a:ext cx="3000000" cy="3000000"/>
        </p:xfrm>
        <a:graphic>
          <a:graphicData uri="http://schemas.openxmlformats.org/drawingml/2006/table">
            <a:tbl>
              <a:tblPr bandRow="1" firstRow="1">
                <a:noFill/>
                <a:tableStyleId>{0DE84C5B-F191-48F3-B5E9-8B4420F79BE8}</a:tableStyleId>
              </a:tblPr>
              <a:tblGrid>
                <a:gridCol w="5973125"/>
                <a:gridCol w="5973125"/>
              </a:tblGrid>
              <a:tr h="470375">
                <a:tc>
                  <a:txBody>
                    <a:bodyPr/>
                    <a:lstStyle/>
                    <a:p>
                      <a:pPr indent="0" lvl="0" marL="0" marR="0" rtl="0" algn="ctr">
                        <a:spcBef>
                          <a:spcPts val="0"/>
                        </a:spcBef>
                        <a:spcAft>
                          <a:spcPts val="0"/>
                        </a:spcAft>
                        <a:buNone/>
                      </a:pPr>
                      <a:r>
                        <a:rPr lang="en-US" sz="1800" u="none" cap="none" strike="noStrike"/>
                        <a:t>ADVANTAGES</a:t>
                      </a:r>
                      <a:endParaRPr b="1" sz="1800" u="none" cap="none" strike="noStrike"/>
                    </a:p>
                  </a:txBody>
                  <a:tcPr marT="45725" marB="45725" marR="91450" marL="91450"/>
                </a:tc>
                <a:tc>
                  <a:txBody>
                    <a:bodyPr/>
                    <a:lstStyle/>
                    <a:p>
                      <a:pPr indent="0" lvl="0" marL="0" marR="0" rtl="0" algn="ctr">
                        <a:spcBef>
                          <a:spcPts val="0"/>
                        </a:spcBef>
                        <a:spcAft>
                          <a:spcPts val="0"/>
                        </a:spcAft>
                        <a:buNone/>
                      </a:pPr>
                      <a:r>
                        <a:rPr lang="en-US" sz="1800" u="none" cap="none" strike="noStrike"/>
                        <a:t>DISADVANTAGES</a:t>
                      </a:r>
                      <a:endParaRPr/>
                    </a:p>
                  </a:txBody>
                  <a:tcPr marT="45725" marB="45725" marR="91450" marL="91450"/>
                </a:tc>
              </a:tr>
              <a:tr h="643950">
                <a:tc>
                  <a:txBody>
                    <a:bodyPr/>
                    <a:lstStyle/>
                    <a:p>
                      <a:pPr indent="0" lvl="0" marL="0" marR="0" rtl="0" algn="l">
                        <a:spcBef>
                          <a:spcPts val="0"/>
                        </a:spcBef>
                        <a:spcAft>
                          <a:spcPts val="0"/>
                        </a:spcAft>
                        <a:buNone/>
                      </a:pPr>
                      <a:r>
                        <a:rPr lang="en-US" sz="1800" u="none" cap="none" strike="noStrike"/>
                        <a:t>The advantages of an ideal biosorption process includes:</a:t>
                      </a:r>
                      <a:endParaRPr/>
                    </a:p>
                  </a:txBody>
                  <a:tcPr marT="45725" marB="45725" marR="91450" marL="91450"/>
                </a:tc>
                <a:tc>
                  <a:txBody>
                    <a:bodyPr/>
                    <a:lstStyle/>
                    <a:p>
                      <a:pPr indent="0" lvl="0" marL="0" marR="0" rtl="0" algn="l">
                        <a:spcBef>
                          <a:spcPts val="0"/>
                        </a:spcBef>
                        <a:spcAft>
                          <a:spcPts val="0"/>
                        </a:spcAft>
                        <a:buNone/>
                      </a:pPr>
                      <a:r>
                        <a:rPr lang="en-US" sz="1800"/>
                        <a:t>Biosorption also has some</a:t>
                      </a:r>
                      <a:r>
                        <a:rPr lang="en-US" sz="1800"/>
                        <a:t> </a:t>
                      </a:r>
                      <a:r>
                        <a:rPr lang="en-US" sz="1800"/>
                        <a:t>disadvantages</a:t>
                      </a:r>
                      <a:r>
                        <a:rPr lang="en-US" sz="1800"/>
                        <a:t> </a:t>
                      </a:r>
                      <a:r>
                        <a:rPr lang="en-US" sz="1800"/>
                        <a:t>such as:</a:t>
                      </a:r>
                      <a:endParaRPr/>
                    </a:p>
                  </a:txBody>
                  <a:tcPr marT="45725" marB="45725" marR="91450" marL="91450"/>
                </a:tc>
              </a:tr>
              <a:tr h="470375">
                <a:tc>
                  <a:txBody>
                    <a:bodyPr/>
                    <a:lstStyle/>
                    <a:p>
                      <a:pPr indent="-285750" lvl="0" marL="285750" marR="0" rtl="0" algn="l">
                        <a:spcBef>
                          <a:spcPts val="0"/>
                        </a:spcBef>
                        <a:spcAft>
                          <a:spcPts val="0"/>
                        </a:spcAft>
                        <a:buClr>
                          <a:schemeClr val="dk1"/>
                        </a:buClr>
                        <a:buSzPts val="1800"/>
                        <a:buFont typeface="Noto Sans Symbols"/>
                        <a:buChar char="❑"/>
                      </a:pPr>
                      <a:r>
                        <a:rPr lang="en-US" sz="1800"/>
                        <a:t>Low cost</a:t>
                      </a:r>
                      <a:endParaRPr/>
                    </a:p>
                  </a:txBody>
                  <a:tcPr marT="45725" marB="45725" marR="91450" marL="91450"/>
                </a:tc>
                <a:tc>
                  <a:txBody>
                    <a:bodyPr/>
                    <a:lstStyle/>
                    <a:p>
                      <a:pPr indent="-285750" lvl="0" marL="285750" marR="0" rtl="0" algn="l">
                        <a:spcBef>
                          <a:spcPts val="0"/>
                        </a:spcBef>
                        <a:spcAft>
                          <a:spcPts val="0"/>
                        </a:spcAft>
                        <a:buClr>
                          <a:schemeClr val="dk1"/>
                        </a:buClr>
                        <a:buSzPts val="1800"/>
                        <a:buFont typeface="Noto Sans Symbols"/>
                        <a:buChar char="❑"/>
                      </a:pPr>
                      <a:r>
                        <a:rPr lang="en-US" sz="1800"/>
                        <a:t>Early saturation</a:t>
                      </a:r>
                      <a:endParaRPr/>
                    </a:p>
                  </a:txBody>
                  <a:tcPr marT="45725" marB="45725" marR="91450" marL="91450"/>
                </a:tc>
              </a:tr>
              <a:tr h="470375">
                <a:tc>
                  <a:txBody>
                    <a:bodyPr/>
                    <a:lstStyle/>
                    <a:p>
                      <a:pPr indent="-285750" lvl="0" marL="285750" marR="0" rtl="0" algn="l">
                        <a:spcBef>
                          <a:spcPts val="0"/>
                        </a:spcBef>
                        <a:spcAft>
                          <a:spcPts val="0"/>
                        </a:spcAft>
                        <a:buClr>
                          <a:schemeClr val="dk1"/>
                        </a:buClr>
                        <a:buSzPts val="1800"/>
                        <a:buFont typeface="Noto Sans Symbols"/>
                        <a:buChar char="❑"/>
                      </a:pPr>
                      <a:r>
                        <a:rPr lang="en-US" sz="1800"/>
                        <a:t>Short operation time</a:t>
                      </a:r>
                      <a:endParaRPr/>
                    </a:p>
                  </a:txBody>
                  <a:tcPr marT="45725" marB="45725" marR="91450" marL="91450"/>
                </a:tc>
                <a:tc>
                  <a:txBody>
                    <a:bodyPr/>
                    <a:lstStyle/>
                    <a:p>
                      <a:pPr indent="-285750" lvl="0" marL="285750" marR="0" rtl="0" algn="l">
                        <a:spcBef>
                          <a:spcPts val="0"/>
                        </a:spcBef>
                        <a:spcAft>
                          <a:spcPts val="0"/>
                        </a:spcAft>
                        <a:buClr>
                          <a:schemeClr val="dk1"/>
                        </a:buClr>
                        <a:buSzPts val="1800"/>
                        <a:buFont typeface="Noto Sans Symbols"/>
                        <a:buChar char="❑"/>
                      </a:pPr>
                      <a:r>
                        <a:rPr lang="en-US" sz="1800"/>
                        <a:t>Limitation in</a:t>
                      </a:r>
                      <a:r>
                        <a:rPr lang="en-US" sz="1800"/>
                        <a:t> </a:t>
                      </a:r>
                      <a:r>
                        <a:rPr lang="en-US" sz="1800"/>
                        <a:t>biological process</a:t>
                      </a:r>
                      <a:endParaRPr/>
                    </a:p>
                  </a:txBody>
                  <a:tcPr marT="45725" marB="45725" marR="91450" marL="91450"/>
                </a:tc>
              </a:tr>
              <a:tr h="470375">
                <a:tc>
                  <a:txBody>
                    <a:bodyPr/>
                    <a:lstStyle/>
                    <a:p>
                      <a:pPr indent="-285750" lvl="0" marL="285750" marR="0" rtl="0" algn="l">
                        <a:spcBef>
                          <a:spcPts val="0"/>
                        </a:spcBef>
                        <a:spcAft>
                          <a:spcPts val="0"/>
                        </a:spcAft>
                        <a:buClr>
                          <a:schemeClr val="dk1"/>
                        </a:buClr>
                        <a:buSzPts val="1800"/>
                        <a:buFont typeface="Noto Sans Symbols"/>
                        <a:buChar char="❑"/>
                      </a:pPr>
                      <a:r>
                        <a:rPr lang="en-US" sz="1800"/>
                        <a:t>Absence of toxicity limitations</a:t>
                      </a:r>
                      <a:endParaRPr/>
                    </a:p>
                  </a:txBody>
                  <a:tcPr marT="45725" marB="45725" marR="91450" marL="91450"/>
                </a:tc>
                <a:tc rowSpan="5">
                  <a:txBody>
                    <a:bodyPr/>
                    <a:lstStyle/>
                    <a:p>
                      <a:pPr indent="0" lvl="0" marL="0" marR="0" rtl="0" algn="l">
                        <a:spcBef>
                          <a:spcPts val="0"/>
                        </a:spcBef>
                        <a:spcAft>
                          <a:spcPts val="0"/>
                        </a:spcAft>
                        <a:buNone/>
                      </a:pPr>
                      <a:r>
                        <a:t/>
                      </a:r>
                      <a:endParaRPr sz="1800"/>
                    </a:p>
                  </a:txBody>
                  <a:tcPr marT="45725" marB="45725" marR="91450" marL="91450"/>
                </a:tc>
              </a:tr>
              <a:tr h="470375">
                <a:tc>
                  <a:txBody>
                    <a:bodyPr/>
                    <a:lstStyle/>
                    <a:p>
                      <a:pPr indent="-285750" lvl="0" marL="285750" marR="0" rtl="0" algn="l">
                        <a:spcBef>
                          <a:spcPts val="0"/>
                        </a:spcBef>
                        <a:spcAft>
                          <a:spcPts val="0"/>
                        </a:spcAft>
                        <a:buClr>
                          <a:schemeClr val="dk1"/>
                        </a:buClr>
                        <a:buSzPts val="1800"/>
                        <a:buFont typeface="Noto Sans Symbols"/>
                        <a:buChar char="❑"/>
                      </a:pPr>
                      <a:r>
                        <a:rPr lang="en-US" sz="1800"/>
                        <a:t>Absence of requirements for nutrients</a:t>
                      </a:r>
                      <a:endParaRPr/>
                    </a:p>
                  </a:txBody>
                  <a:tcPr marT="45725" marB="45725" marR="91450" marL="91450"/>
                </a:tc>
                <a:tc vMerge="1"/>
              </a:tr>
              <a:tr h="470375">
                <a:tc>
                  <a:txBody>
                    <a:bodyPr/>
                    <a:lstStyle/>
                    <a:p>
                      <a:pPr indent="-285750" lvl="0" marL="285750" marR="0" rtl="0" algn="l">
                        <a:spcBef>
                          <a:spcPts val="0"/>
                        </a:spcBef>
                        <a:spcAft>
                          <a:spcPts val="0"/>
                        </a:spcAft>
                        <a:buClr>
                          <a:schemeClr val="dk1"/>
                        </a:buClr>
                        <a:buSzPts val="1800"/>
                        <a:buFont typeface="Noto Sans Symbols"/>
                        <a:buChar char="❑"/>
                      </a:pPr>
                      <a:r>
                        <a:rPr lang="en-US" sz="1800"/>
                        <a:t>Avoidance of</a:t>
                      </a:r>
                      <a:r>
                        <a:rPr lang="en-US" sz="1800"/>
                        <a:t> </a:t>
                      </a:r>
                      <a:r>
                        <a:rPr lang="en-US" sz="1800"/>
                        <a:t>sudden death of biomass </a:t>
                      </a:r>
                      <a:endParaRPr/>
                    </a:p>
                  </a:txBody>
                  <a:tcPr marT="45725" marB="45725" marR="91450" marL="91450"/>
                </a:tc>
                <a:tc vMerge="1"/>
              </a:tr>
              <a:tr h="643950">
                <a:tc>
                  <a:txBody>
                    <a:bodyPr/>
                    <a:lstStyle/>
                    <a:p>
                      <a:pPr indent="-285750" lvl="0" marL="285750" marR="0" rtl="0" algn="l">
                        <a:spcBef>
                          <a:spcPts val="0"/>
                        </a:spcBef>
                        <a:spcAft>
                          <a:spcPts val="0"/>
                        </a:spcAft>
                        <a:buClr>
                          <a:schemeClr val="dk1"/>
                        </a:buClr>
                        <a:buSzPts val="1800"/>
                        <a:buFont typeface="Noto Sans Symbols"/>
                        <a:buChar char="❑"/>
                      </a:pPr>
                      <a:r>
                        <a:rPr lang="en-US" sz="1800"/>
                        <a:t>Easy mathematical modelling</a:t>
                      </a:r>
                      <a:r>
                        <a:rPr lang="en-US" sz="1800"/>
                        <a:t> </a:t>
                      </a:r>
                      <a:r>
                        <a:rPr lang="en-US" sz="1800"/>
                        <a:t>of metal uptake by reactors</a:t>
                      </a:r>
                      <a:endParaRPr/>
                    </a:p>
                  </a:txBody>
                  <a:tcPr marT="45725" marB="45725" marR="91450" marL="91450"/>
                </a:tc>
                <a:tc vMerge="1"/>
              </a:tr>
              <a:tr h="654800">
                <a:tc>
                  <a:txBody>
                    <a:bodyPr/>
                    <a:lstStyle/>
                    <a:p>
                      <a:pPr indent="-285750" lvl="0" marL="285750" marR="0" rtl="0" algn="l">
                        <a:spcBef>
                          <a:spcPts val="0"/>
                        </a:spcBef>
                        <a:spcAft>
                          <a:spcPts val="0"/>
                        </a:spcAft>
                        <a:buClr>
                          <a:schemeClr val="dk1"/>
                        </a:buClr>
                        <a:buSzPts val="1800"/>
                        <a:buFont typeface="Noto Sans Symbols"/>
                        <a:buChar char="❑"/>
                      </a:pPr>
                      <a:r>
                        <a:rPr lang="en-US" sz="1800"/>
                        <a:t> It is possible to remove ions from cell surfaces after</a:t>
                      </a:r>
                      <a:r>
                        <a:rPr lang="en-US" sz="1800"/>
                        <a:t>  </a:t>
                      </a:r>
                      <a:r>
                        <a:rPr lang="en-US" sz="1800"/>
                        <a:t>biosorption by simple non-destructive methods.</a:t>
                      </a:r>
                      <a:endParaRPr/>
                    </a:p>
                  </a:txBody>
                  <a:tcPr marT="45725" marB="45725" marR="91450" marL="91450"/>
                </a:tc>
                <a:tc vMerge="1"/>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2"/>
          <p:cNvSpPr/>
          <p:nvPr/>
        </p:nvSpPr>
        <p:spPr>
          <a:xfrm>
            <a:off x="1364342" y="1653168"/>
            <a:ext cx="9622971" cy="406265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chemeClr val="dk1"/>
                </a:solidFill>
                <a:latin typeface="Calibri"/>
                <a:ea typeface="Calibri"/>
                <a:cs typeface="Calibri"/>
                <a:sym typeface="Calibri"/>
              </a:rPr>
              <a:t>Bioaccumulation</a:t>
            </a:r>
            <a:r>
              <a:rPr lang="en-US" sz="1800">
                <a:solidFill>
                  <a:schemeClr val="dk1"/>
                </a:solidFill>
                <a:latin typeface="Calibri"/>
                <a:ea typeface="Calibri"/>
                <a:cs typeface="Calibri"/>
                <a:sym typeface="Calibri"/>
              </a:rPr>
              <a:t> by microbes is metabolically active and relies upon the import-storage system.</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It occurs when the amount of pollutant absorption surpasses the pollutant removal rate. As a result, the pollutant becomes trapped inside the organism and accumulates.</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Heavy metal (HM) bioaccumulation is the process through which toxic metals or chemical compounds become bonded inside a cell structure. </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In this system, HM ions are transported through the lipid bilayer of the cell membrane into the intracellular spaces or cytoplasm with the help of transporter proteins. This is known as active uptake or bioaccumulation. </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Endocytosis, ion channels, carrier-mediated transport, complex permeation, and lipid permeation are all involved in HM bioaccumulation in the bacterial membrane</a:t>
            </a:r>
            <a:endParaRPr/>
          </a:p>
        </p:txBody>
      </p:sp>
      <p:sp>
        <p:nvSpPr>
          <p:cNvPr id="205" name="Google Shape;205;p12"/>
          <p:cNvSpPr txBox="1"/>
          <p:nvPr/>
        </p:nvSpPr>
        <p:spPr>
          <a:xfrm>
            <a:off x="1097280" y="391886"/>
            <a:ext cx="10058400" cy="1040674"/>
          </a:xfrm>
          <a:prstGeom prst="rect">
            <a:avLst/>
          </a:prstGeom>
          <a:noFill/>
          <a:ln>
            <a:noFill/>
          </a:ln>
        </p:spPr>
        <p:txBody>
          <a:bodyPr anchorCtr="0" anchor="t" bIns="45700" lIns="91425" spcFirstLastPara="1" rIns="91425" wrap="square" tIns="45700">
            <a:normAutofit fontScale="90000"/>
          </a:bodyPr>
          <a:lstStyle/>
          <a:p>
            <a:pPr indent="0" lvl="0" marL="0" marR="0" rtl="0" algn="ctr">
              <a:lnSpc>
                <a:spcPct val="85000"/>
              </a:lnSpc>
              <a:spcBef>
                <a:spcPts val="0"/>
              </a:spcBef>
              <a:spcAft>
                <a:spcPts val="0"/>
              </a:spcAft>
              <a:buClr>
                <a:schemeClr val="dk1"/>
              </a:buClr>
              <a:buSzPct val="100000"/>
              <a:buFont typeface="Arial Rounded"/>
              <a:buNone/>
            </a:pPr>
            <a:r>
              <a:rPr b="1" i="0" lang="en-US" sz="4800" u="none" cap="none" strike="noStrike">
                <a:solidFill>
                  <a:schemeClr val="dk1"/>
                </a:solidFill>
                <a:latin typeface="Arial Rounded"/>
                <a:ea typeface="Arial Rounded"/>
                <a:cs typeface="Arial Rounded"/>
                <a:sym typeface="Arial Rounded"/>
              </a:rPr>
              <a:t>Bioaccumulation and its mechanism</a:t>
            </a:r>
            <a:endParaRPr b="1" i="0" sz="4800" u="none" cap="none" strike="noStrike">
              <a:solidFill>
                <a:schemeClr val="dk1"/>
              </a:solidFill>
              <a:latin typeface="Arial Rounded"/>
              <a:ea typeface="Arial Rounded"/>
              <a:cs typeface="Arial Rounded"/>
              <a:sym typeface="Arial Rounde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3"/>
          <p:cNvSpPr txBox="1"/>
          <p:nvPr>
            <p:ph idx="1" type="body"/>
          </p:nvPr>
        </p:nvSpPr>
        <p:spPr>
          <a:xfrm>
            <a:off x="0" y="1088572"/>
            <a:ext cx="7077289" cy="4335147"/>
          </a:xfrm>
          <a:prstGeom prst="rect">
            <a:avLst/>
          </a:prstGeom>
          <a:noFill/>
          <a:ln>
            <a:noFill/>
          </a:ln>
        </p:spPr>
        <p:txBody>
          <a:bodyPr anchorCtr="0" anchor="t" bIns="45700" lIns="0" spcFirstLastPara="1" rIns="0" wrap="square" tIns="45700">
            <a:normAutofit fontScale="85000" lnSpcReduction="20000"/>
          </a:bodyPr>
          <a:lstStyle/>
          <a:p>
            <a:pPr indent="-151130" lvl="0" marL="91440" rtl="0" algn="l">
              <a:lnSpc>
                <a:spcPct val="90000"/>
              </a:lnSpc>
              <a:spcBef>
                <a:spcPts val="0"/>
              </a:spcBef>
              <a:spcAft>
                <a:spcPts val="0"/>
              </a:spcAft>
              <a:buSzPct val="100000"/>
              <a:buChar char=" "/>
            </a:pPr>
            <a:r>
              <a:rPr b="1" lang="en-US" sz="2800">
                <a:latin typeface="Times New Roman"/>
                <a:ea typeface="Times New Roman"/>
                <a:cs typeface="Times New Roman"/>
                <a:sym typeface="Times New Roman"/>
              </a:rPr>
              <a:t>Bioaccumulation, </a:t>
            </a:r>
            <a:r>
              <a:rPr lang="en-US" sz="2800">
                <a:latin typeface="Times New Roman"/>
                <a:ea typeface="Times New Roman"/>
                <a:cs typeface="Times New Roman"/>
                <a:sym typeface="Times New Roman"/>
              </a:rPr>
              <a:t>also termed</a:t>
            </a:r>
            <a:r>
              <a:rPr b="1" lang="en-US" sz="2800">
                <a:latin typeface="Times New Roman"/>
                <a:ea typeface="Times New Roman"/>
                <a:cs typeface="Times New Roman"/>
                <a:sym typeface="Times New Roman"/>
              </a:rPr>
              <a:t> active biosorption</a:t>
            </a:r>
            <a:r>
              <a:rPr lang="en-US" sz="2800">
                <a:latin typeface="Times New Roman"/>
                <a:ea typeface="Times New Roman"/>
                <a:cs typeface="Times New Roman"/>
                <a:sym typeface="Times New Roman"/>
              </a:rPr>
              <a:t>, involves two processes: </a:t>
            </a:r>
            <a:endParaRPr/>
          </a:p>
          <a:p>
            <a:pPr indent="0" lvl="0" marL="91440" rtl="0" algn="l">
              <a:lnSpc>
                <a:spcPct val="90000"/>
              </a:lnSpc>
              <a:spcBef>
                <a:spcPts val="1400"/>
              </a:spcBef>
              <a:spcAft>
                <a:spcPts val="0"/>
              </a:spcAft>
              <a:buSzPct val="100000"/>
              <a:buNone/>
            </a:pPr>
            <a:r>
              <a:t/>
            </a:r>
            <a:endParaRPr sz="2800">
              <a:latin typeface="Times New Roman"/>
              <a:ea typeface="Times New Roman"/>
              <a:cs typeface="Times New Roman"/>
              <a:sym typeface="Times New Roman"/>
            </a:endParaRPr>
          </a:p>
          <a:p>
            <a:pPr indent="-151130" lvl="0" marL="91440" rtl="0" algn="just">
              <a:lnSpc>
                <a:spcPct val="90000"/>
              </a:lnSpc>
              <a:spcBef>
                <a:spcPts val="1400"/>
              </a:spcBef>
              <a:spcAft>
                <a:spcPts val="0"/>
              </a:spcAft>
              <a:buSzPct val="100000"/>
              <a:buFont typeface="Noto Sans Symbols"/>
              <a:buChar char="❑"/>
            </a:pPr>
            <a:r>
              <a:rPr b="1" lang="en-US" sz="2800">
                <a:latin typeface="Times New Roman"/>
                <a:ea typeface="Times New Roman"/>
                <a:cs typeface="Times New Roman"/>
                <a:sym typeface="Times New Roman"/>
              </a:rPr>
              <a:t> </a:t>
            </a:r>
            <a:r>
              <a:rPr lang="en-US" sz="2600">
                <a:latin typeface="Times New Roman"/>
                <a:ea typeface="Times New Roman"/>
                <a:cs typeface="Times New Roman"/>
                <a:sym typeface="Times New Roman"/>
              </a:rPr>
              <a:t>The </a:t>
            </a:r>
            <a:r>
              <a:rPr b="1" lang="en-US" sz="2600">
                <a:latin typeface="Times New Roman"/>
                <a:ea typeface="Times New Roman"/>
                <a:cs typeface="Times New Roman"/>
                <a:sym typeface="Times New Roman"/>
              </a:rPr>
              <a:t>first step</a:t>
            </a:r>
            <a:r>
              <a:rPr lang="en-US" sz="2600">
                <a:latin typeface="Times New Roman"/>
                <a:ea typeface="Times New Roman"/>
                <a:cs typeface="Times New Roman"/>
                <a:sym typeface="Times New Roman"/>
              </a:rPr>
              <a:t> involves attachment of potentially toxic elements to the surface. This step which is identical to biosorption is a metabolism-independent and quick mechanism of metal uptake on the cell surface, known as </a:t>
            </a:r>
            <a:r>
              <a:rPr b="1" lang="en-US" sz="2600">
                <a:latin typeface="Times New Roman"/>
                <a:ea typeface="Times New Roman"/>
                <a:cs typeface="Times New Roman"/>
                <a:sym typeface="Times New Roman"/>
              </a:rPr>
              <a:t>extracellular binding. </a:t>
            </a:r>
            <a:endParaRPr/>
          </a:p>
          <a:p>
            <a:pPr indent="0" lvl="0" marL="91440" rtl="0" algn="just">
              <a:lnSpc>
                <a:spcPct val="90000"/>
              </a:lnSpc>
              <a:spcBef>
                <a:spcPts val="1400"/>
              </a:spcBef>
              <a:spcAft>
                <a:spcPts val="0"/>
              </a:spcAft>
              <a:buSzPct val="100000"/>
              <a:buFont typeface="Noto Sans Symbols"/>
              <a:buNone/>
            </a:pPr>
            <a:r>
              <a:t/>
            </a:r>
            <a:endParaRPr b="1" sz="2600">
              <a:latin typeface="Times New Roman"/>
              <a:ea typeface="Times New Roman"/>
              <a:cs typeface="Times New Roman"/>
              <a:sym typeface="Times New Roman"/>
            </a:endParaRPr>
          </a:p>
          <a:p>
            <a:pPr indent="-140335" lvl="0" marL="91440" rtl="0" algn="just">
              <a:lnSpc>
                <a:spcPct val="90000"/>
              </a:lnSpc>
              <a:spcBef>
                <a:spcPts val="1400"/>
              </a:spcBef>
              <a:spcAft>
                <a:spcPts val="0"/>
              </a:spcAft>
              <a:buSzPct val="100000"/>
              <a:buFont typeface="Noto Sans Symbols"/>
              <a:buChar char="❑"/>
            </a:pPr>
            <a:r>
              <a:rPr lang="en-US" sz="2600">
                <a:latin typeface="Times New Roman"/>
                <a:ea typeface="Times New Roman"/>
                <a:cs typeface="Times New Roman"/>
                <a:sym typeface="Times New Roman"/>
              </a:rPr>
              <a:t>The </a:t>
            </a:r>
            <a:r>
              <a:rPr b="1" lang="en-US" sz="2600">
                <a:latin typeface="Times New Roman"/>
                <a:ea typeface="Times New Roman"/>
                <a:cs typeface="Times New Roman"/>
                <a:sym typeface="Times New Roman"/>
              </a:rPr>
              <a:t>second step</a:t>
            </a:r>
            <a:r>
              <a:rPr lang="en-US" sz="2600">
                <a:latin typeface="Times New Roman"/>
                <a:ea typeface="Times New Roman"/>
                <a:cs typeface="Times New Roman"/>
                <a:sym typeface="Times New Roman"/>
              </a:rPr>
              <a:t> is metabolism dependent, relatively slow mechanism responsible for the penetration/transport of metal ions into the cell membrane released from binding sites of the surface and bound to intracellular structures termed </a:t>
            </a:r>
            <a:r>
              <a:rPr b="1" lang="en-US" sz="2600">
                <a:latin typeface="Times New Roman"/>
                <a:ea typeface="Times New Roman"/>
                <a:cs typeface="Times New Roman"/>
                <a:sym typeface="Times New Roman"/>
              </a:rPr>
              <a:t>intra-cellular binding.</a:t>
            </a:r>
            <a:endParaRPr/>
          </a:p>
          <a:p>
            <a:pPr indent="0" lvl="0" marL="0" rtl="0" algn="l">
              <a:lnSpc>
                <a:spcPct val="90000"/>
              </a:lnSpc>
              <a:spcBef>
                <a:spcPts val="1400"/>
              </a:spcBef>
              <a:spcAft>
                <a:spcPts val="0"/>
              </a:spcAft>
              <a:buSzPct val="100000"/>
              <a:buNone/>
            </a:pPr>
            <a:r>
              <a:t/>
            </a:r>
            <a:endParaRPr sz="2800">
              <a:latin typeface="Times New Roman"/>
              <a:ea typeface="Times New Roman"/>
              <a:cs typeface="Times New Roman"/>
              <a:sym typeface="Times New Roman"/>
            </a:endParaRPr>
          </a:p>
        </p:txBody>
      </p:sp>
      <p:pic>
        <p:nvPicPr>
          <p:cNvPr id="211" name="Google Shape;211;p13"/>
          <p:cNvPicPr preferRelativeResize="0"/>
          <p:nvPr/>
        </p:nvPicPr>
        <p:blipFill rotWithShape="1">
          <a:blip r:embed="rId3">
            <a:alphaModFix/>
          </a:blip>
          <a:srcRect b="0" l="0" r="0" t="0"/>
          <a:stretch/>
        </p:blipFill>
        <p:spPr>
          <a:xfrm>
            <a:off x="7558268" y="1845734"/>
            <a:ext cx="4531690" cy="402336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4800"/>
              <a:buFont typeface="Arial Rounded"/>
              <a:buNone/>
            </a:pPr>
            <a:r>
              <a:rPr b="1" lang="en-US">
                <a:solidFill>
                  <a:schemeClr val="dk1"/>
                </a:solidFill>
                <a:latin typeface="Arial Rounded"/>
                <a:ea typeface="Arial Rounded"/>
                <a:cs typeface="Arial Rounded"/>
                <a:sym typeface="Arial Rounded"/>
              </a:rPr>
              <a:t>Contd.….</a:t>
            </a:r>
            <a:endParaRPr/>
          </a:p>
        </p:txBody>
      </p:sp>
      <p:grpSp>
        <p:nvGrpSpPr>
          <p:cNvPr id="217" name="Google Shape;217;p14"/>
          <p:cNvGrpSpPr/>
          <p:nvPr/>
        </p:nvGrpSpPr>
        <p:grpSpPr>
          <a:xfrm>
            <a:off x="1103837" y="1845734"/>
            <a:ext cx="10045285" cy="4023360"/>
            <a:chOff x="6557" y="0"/>
            <a:chExt cx="10045285" cy="4023360"/>
          </a:xfrm>
        </p:grpSpPr>
        <p:sp>
          <p:nvSpPr>
            <p:cNvPr id="218" name="Google Shape;218;p14"/>
            <p:cNvSpPr/>
            <p:nvPr/>
          </p:nvSpPr>
          <p:spPr>
            <a:xfrm>
              <a:off x="754379" y="0"/>
              <a:ext cx="8549640" cy="4023360"/>
            </a:xfrm>
            <a:prstGeom prst="rightArrow">
              <a:avLst>
                <a:gd fmla="val 50000" name="adj1"/>
                <a:gd fmla="val 50000" name="adj2"/>
              </a:avLst>
            </a:prstGeom>
            <a:solidFill>
              <a:srgbClr val="CCCD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4"/>
            <p:cNvSpPr/>
            <p:nvPr/>
          </p:nvSpPr>
          <p:spPr>
            <a:xfrm>
              <a:off x="6557" y="1126066"/>
              <a:ext cx="2986164" cy="1771227"/>
            </a:xfrm>
            <a:prstGeom prst="roundRect">
              <a:avLst>
                <a:gd fmla="val 16667" name="adj"/>
              </a:avLst>
            </a:prstGeom>
            <a:solidFill>
              <a:schemeClr val="lt1"/>
            </a:solidFill>
            <a:ln cap="flat" cmpd="sng" w="25400">
              <a:solidFill>
                <a:srgbClr val="2D39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4"/>
            <p:cNvSpPr txBox="1"/>
            <p:nvPr/>
          </p:nvSpPr>
          <p:spPr>
            <a:xfrm>
              <a:off x="6557" y="1126066"/>
              <a:ext cx="2986164" cy="1771227"/>
            </a:xfrm>
            <a:prstGeom prst="rect">
              <a:avLst/>
            </a:prstGeom>
            <a:noFill/>
            <a:ln>
              <a:noFill/>
            </a:ln>
          </p:spPr>
          <p:txBody>
            <a:bodyPr anchorCtr="0" anchor="ctr" bIns="53325" lIns="53325" spcFirstLastPara="1" rIns="53325" wrap="square" tIns="53325">
              <a:noAutofit/>
            </a:bodyPr>
            <a:lstStyle/>
            <a:p>
              <a:pPr indent="0" lvl="0" marL="0" marR="0" rtl="0" algn="ctr">
                <a:lnSpc>
                  <a:spcPct val="90000"/>
                </a:lnSpc>
                <a:spcBef>
                  <a:spcPts val="0"/>
                </a:spcBef>
                <a:spcAft>
                  <a:spcPts val="0"/>
                </a:spcAft>
                <a:buClr>
                  <a:schemeClr val="lt1"/>
                </a:buClr>
                <a:buSzPts val="1400"/>
                <a:buFont typeface="Times New Roman"/>
                <a:buNone/>
              </a:pPr>
              <a:r>
                <a:rPr lang="en-US" sz="1400">
                  <a:solidFill>
                    <a:schemeClr val="lt1"/>
                  </a:solidFill>
                  <a:latin typeface="Times New Roman"/>
                  <a:ea typeface="Times New Roman"/>
                  <a:cs typeface="Times New Roman"/>
                  <a:sym typeface="Times New Roman"/>
                </a:rPr>
                <a:t>Intracellular uptake of metal ions</a:t>
              </a:r>
              <a:endParaRPr/>
            </a:p>
            <a:p>
              <a:pPr indent="0" lvl="0" marL="0" marR="0" rtl="0" algn="ctr">
                <a:lnSpc>
                  <a:spcPct val="90000"/>
                </a:lnSpc>
                <a:spcBef>
                  <a:spcPts val="490"/>
                </a:spcBef>
                <a:spcAft>
                  <a:spcPts val="0"/>
                </a:spcAft>
                <a:buClr>
                  <a:schemeClr val="lt1"/>
                </a:buClr>
                <a:buSzPts val="1400"/>
                <a:buFont typeface="Times New Roman"/>
                <a:buNone/>
              </a:pPr>
              <a:r>
                <a:rPr lang="en-US" sz="1400">
                  <a:solidFill>
                    <a:schemeClr val="lt1"/>
                  </a:solidFill>
                  <a:latin typeface="Times New Roman"/>
                  <a:ea typeface="Times New Roman"/>
                  <a:cs typeface="Times New Roman"/>
                  <a:sym typeface="Times New Roman"/>
                </a:rPr>
                <a:t>via ATP-driven active transport and/or via bio-precipitation  (release of sulfide or phosphate ions) associated with metabolic functions or biotransformation (oxidation,</a:t>
              </a:r>
              <a:endParaRPr/>
            </a:p>
            <a:p>
              <a:pPr indent="0" lvl="0" marL="0" marR="0" rtl="0" algn="ctr">
                <a:lnSpc>
                  <a:spcPct val="90000"/>
                </a:lnSpc>
                <a:spcBef>
                  <a:spcPts val="490"/>
                </a:spcBef>
                <a:spcAft>
                  <a:spcPts val="0"/>
                </a:spcAft>
                <a:buClr>
                  <a:schemeClr val="lt1"/>
                </a:buClr>
                <a:buSzPts val="1400"/>
                <a:buFont typeface="Times New Roman"/>
                <a:buNone/>
              </a:pPr>
              <a:r>
                <a:rPr lang="en-US" sz="1400">
                  <a:solidFill>
                    <a:schemeClr val="lt1"/>
                  </a:solidFill>
                  <a:latin typeface="Times New Roman"/>
                  <a:ea typeface="Times New Roman"/>
                  <a:cs typeface="Times New Roman"/>
                  <a:sym typeface="Times New Roman"/>
                </a:rPr>
                <a:t>reduction, methylation and demethylation</a:t>
              </a:r>
              <a:r>
                <a:rPr lang="en-US" sz="1300">
                  <a:solidFill>
                    <a:schemeClr val="lt1"/>
                  </a:solidFill>
                  <a:latin typeface="Calibri"/>
                  <a:ea typeface="Calibri"/>
                  <a:cs typeface="Calibri"/>
                  <a:sym typeface="Calibri"/>
                </a:rPr>
                <a:t>)</a:t>
              </a:r>
              <a:endParaRPr/>
            </a:p>
          </p:txBody>
        </p:sp>
        <p:sp>
          <p:nvSpPr>
            <p:cNvPr id="221" name="Google Shape;221;p14"/>
            <p:cNvSpPr/>
            <p:nvPr/>
          </p:nvSpPr>
          <p:spPr>
            <a:xfrm>
              <a:off x="3343390" y="1116128"/>
              <a:ext cx="3255038" cy="1791103"/>
            </a:xfrm>
            <a:prstGeom prst="roundRect">
              <a:avLst>
                <a:gd fmla="val 16667" name="adj"/>
              </a:avLst>
            </a:prstGeom>
            <a:solidFill>
              <a:schemeClr val="lt1"/>
            </a:solidFill>
            <a:ln cap="flat" cmpd="sng" w="25400">
              <a:solidFill>
                <a:srgbClr val="2D39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4"/>
            <p:cNvSpPr txBox="1"/>
            <p:nvPr/>
          </p:nvSpPr>
          <p:spPr>
            <a:xfrm>
              <a:off x="3343390" y="1116128"/>
              <a:ext cx="3255038" cy="1791103"/>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lt1"/>
                </a:buClr>
                <a:buSzPts val="1800"/>
                <a:buFont typeface="Times New Roman"/>
                <a:buNone/>
              </a:pPr>
              <a:r>
                <a:rPr lang="en-US" sz="1800">
                  <a:solidFill>
                    <a:schemeClr val="lt1"/>
                  </a:solidFill>
                  <a:latin typeface="Times New Roman"/>
                  <a:ea typeface="Times New Roman"/>
                  <a:cs typeface="Times New Roman"/>
                  <a:sym typeface="Times New Roman"/>
                </a:rPr>
                <a:t>Localization of the metal ions within specific organelles; enzymatic detoxification and efflux pump.</a:t>
              </a:r>
              <a:endParaRPr/>
            </a:p>
            <a:p>
              <a:pPr indent="0" lvl="0" marL="0" marR="0" rtl="0" algn="ctr">
                <a:lnSpc>
                  <a:spcPct val="90000"/>
                </a:lnSpc>
                <a:spcBef>
                  <a:spcPts val="630"/>
                </a:spcBef>
                <a:spcAft>
                  <a:spcPts val="0"/>
                </a:spcAft>
                <a:buClr>
                  <a:schemeClr val="lt1"/>
                </a:buClr>
                <a:buSzPts val="1800"/>
                <a:buFont typeface="Times New Roman"/>
                <a:buNone/>
              </a:pPr>
              <a:r>
                <a:rPr lang="en-US" sz="1800">
                  <a:solidFill>
                    <a:schemeClr val="lt1"/>
                  </a:solidFill>
                  <a:latin typeface="Times New Roman"/>
                  <a:ea typeface="Times New Roman"/>
                  <a:cs typeface="Times New Roman"/>
                  <a:sym typeface="Times New Roman"/>
                </a:rPr>
                <a:t>The concentration of the internalized metal is regulated by metal homeostasis system,</a:t>
              </a:r>
              <a:endParaRPr/>
            </a:p>
          </p:txBody>
        </p:sp>
        <p:sp>
          <p:nvSpPr>
            <p:cNvPr id="223" name="Google Shape;223;p14"/>
            <p:cNvSpPr/>
            <p:nvPr/>
          </p:nvSpPr>
          <p:spPr>
            <a:xfrm>
              <a:off x="6949098" y="1126066"/>
              <a:ext cx="3102744" cy="1771227"/>
            </a:xfrm>
            <a:prstGeom prst="roundRect">
              <a:avLst>
                <a:gd fmla="val 16667" name="adj"/>
              </a:avLst>
            </a:prstGeom>
            <a:solidFill>
              <a:schemeClr val="lt1"/>
            </a:solidFill>
            <a:ln cap="flat" cmpd="sng" w="25400">
              <a:solidFill>
                <a:srgbClr val="2D39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4"/>
            <p:cNvSpPr txBox="1"/>
            <p:nvPr/>
          </p:nvSpPr>
          <p:spPr>
            <a:xfrm>
              <a:off x="6949098" y="1126066"/>
              <a:ext cx="3102744" cy="1771227"/>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lt1"/>
                </a:buClr>
                <a:buSzPts val="1800"/>
                <a:buFont typeface="Times New Roman"/>
                <a:buNone/>
              </a:pPr>
              <a:r>
                <a:rPr lang="en-US" sz="1800">
                  <a:solidFill>
                    <a:schemeClr val="lt1"/>
                  </a:solidFill>
                  <a:latin typeface="Times New Roman"/>
                  <a:ea typeface="Times New Roman"/>
                  <a:cs typeface="Times New Roman"/>
                  <a:sym typeface="Times New Roman"/>
                </a:rPr>
                <a:t>Cells form complexation of unwanted metal and sequester it into intracellular organelles for eventual export from the cell by efflux systems.</a:t>
              </a:r>
              <a:endParaRPr/>
            </a:p>
          </p:txBody>
        </p:sp>
      </p:grpSp>
      <p:sp>
        <p:nvSpPr>
          <p:cNvPr id="225" name="Google Shape;225;p14"/>
          <p:cNvSpPr txBox="1"/>
          <p:nvPr/>
        </p:nvSpPr>
        <p:spPr>
          <a:xfrm>
            <a:off x="2372810" y="2361234"/>
            <a:ext cx="428263" cy="381965"/>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Black"/>
                <a:ea typeface="Arial Black"/>
                <a:cs typeface="Arial Black"/>
                <a:sym typeface="Arial Black"/>
              </a:rPr>
              <a:t>A</a:t>
            </a:r>
            <a:endParaRPr/>
          </a:p>
        </p:txBody>
      </p:sp>
      <p:sp>
        <p:nvSpPr>
          <p:cNvPr id="226" name="Google Shape;226;p14"/>
          <p:cNvSpPr txBox="1"/>
          <p:nvPr/>
        </p:nvSpPr>
        <p:spPr>
          <a:xfrm>
            <a:off x="5698217" y="2361233"/>
            <a:ext cx="428263" cy="381965"/>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Black"/>
                <a:ea typeface="Arial Black"/>
                <a:cs typeface="Arial Black"/>
                <a:sym typeface="Arial Black"/>
              </a:rPr>
              <a:t>B</a:t>
            </a:r>
            <a:endParaRPr/>
          </a:p>
        </p:txBody>
      </p:sp>
      <p:sp>
        <p:nvSpPr>
          <p:cNvPr id="227" name="Google Shape;227;p14"/>
          <p:cNvSpPr txBox="1"/>
          <p:nvPr/>
        </p:nvSpPr>
        <p:spPr>
          <a:xfrm>
            <a:off x="9435297" y="2361233"/>
            <a:ext cx="428263" cy="369332"/>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Black"/>
                <a:ea typeface="Arial Black"/>
                <a:cs typeface="Arial Black"/>
                <a:sym typeface="Arial Black"/>
              </a:rPr>
              <a:t>C</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5"/>
          <p:cNvSpPr/>
          <p:nvPr/>
        </p:nvSpPr>
        <p:spPr>
          <a:xfrm>
            <a:off x="522514" y="652920"/>
            <a:ext cx="9114972" cy="569386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000">
                <a:solidFill>
                  <a:schemeClr val="dk1"/>
                </a:solidFill>
                <a:latin typeface="Calibri"/>
                <a:ea typeface="Calibri"/>
                <a:cs typeface="Calibri"/>
                <a:sym typeface="Calibri"/>
              </a:rPr>
              <a:t>Bioleaching</a:t>
            </a:r>
            <a:r>
              <a:rPr lang="en-US" sz="20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uses microorganisms as reduction agents, forextract ion and recovery of heavy metals.</a:t>
            </a:r>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microorganisms convert the solid chemical within contaminated soil into a soluble substance that can be removed and recovered .</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For example; Acidophiles are chemolithotrophs oxidize Fe (II) to Fe (III) and/or reduce sulfur to sulfuric acid and flourish in low pH environments, particularly 2.0 or below. </a:t>
            </a:r>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Sulfuric acid produces ferric ions and protons, which solubilize metal sulfides and oxides from ores aiding extraction of metal by segregating metals in the solid phase from the more water-soluble phase.</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b="1" lang="en-US" sz="2000">
                <a:solidFill>
                  <a:schemeClr val="dk1"/>
                </a:solidFill>
                <a:latin typeface="Calibri"/>
                <a:ea typeface="Calibri"/>
                <a:cs typeface="Calibri"/>
                <a:sym typeface="Calibri"/>
              </a:rPr>
              <a:t>Biotransformation</a:t>
            </a:r>
            <a:r>
              <a:rPr lang="en-US" sz="1800">
                <a:solidFill>
                  <a:schemeClr val="dk1"/>
                </a:solidFill>
                <a:latin typeface="Calibri"/>
                <a:ea typeface="Calibri"/>
                <a:cs typeface="Calibri"/>
                <a:sym typeface="Calibri"/>
              </a:rPr>
              <a:t> is a process in which structurally a chemical compound is altered, thereby relatively a more polar molecular is synthesized.</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contact of metal and microorganisms causes toxic metals and organic compounds to get altered to a comparatively less hazardous form.</a:t>
            </a:r>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rPr lang="en-US" sz="1800">
                <a:solidFill>
                  <a:schemeClr val="dk1"/>
                </a:solidFill>
                <a:latin typeface="Calibri"/>
                <a:ea typeface="Calibri"/>
                <a:cs typeface="Calibri"/>
                <a:sym typeface="Calibri"/>
              </a:rPr>
              <a:t>Microbial transformations can be attained through the production of new carbon bonds, isomerization, introducing functional groups, oxidation, reduction, condensation, hydrolysis, methylation, and demethylation.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Arial Rounded"/>
              <a:buNone/>
            </a:pPr>
            <a:r>
              <a:rPr b="1" lang="en-US">
                <a:latin typeface="Arial Rounded"/>
                <a:ea typeface="Arial Rounded"/>
                <a:cs typeface="Arial Rounded"/>
                <a:sym typeface="Arial Rounded"/>
              </a:rPr>
              <a:t>Selection of Microorganisms for Bioaccumulation </a:t>
            </a:r>
            <a:endParaRPr/>
          </a:p>
        </p:txBody>
      </p:sp>
      <p:sp>
        <p:nvSpPr>
          <p:cNvPr id="238" name="Google Shape;238;p16"/>
          <p:cNvSpPr txBox="1"/>
          <p:nvPr>
            <p:ph idx="1" type="body"/>
          </p:nvPr>
        </p:nvSpPr>
        <p:spPr>
          <a:xfrm>
            <a:off x="268357" y="1845734"/>
            <a:ext cx="11658600" cy="4276770"/>
          </a:xfrm>
          <a:prstGeom prst="rect">
            <a:avLst/>
          </a:prstGeom>
          <a:noFill/>
          <a:ln>
            <a:noFill/>
          </a:ln>
        </p:spPr>
        <p:txBody>
          <a:bodyPr anchorCtr="0" anchor="t" bIns="45700" lIns="0" spcFirstLastPara="1" rIns="0" wrap="square" tIns="45700">
            <a:normAutofit/>
          </a:bodyPr>
          <a:lstStyle/>
          <a:p>
            <a:pPr indent="-152400" lvl="0" marL="91440" rtl="0" algn="l">
              <a:lnSpc>
                <a:spcPct val="90000"/>
              </a:lnSpc>
              <a:spcBef>
                <a:spcPts val="0"/>
              </a:spcBef>
              <a:spcAft>
                <a:spcPts val="0"/>
              </a:spcAft>
              <a:buSzPts val="2400"/>
              <a:buChar char=" "/>
            </a:pPr>
            <a:r>
              <a:rPr b="1" lang="en-US" sz="2400">
                <a:latin typeface="Times New Roman"/>
                <a:ea typeface="Times New Roman"/>
                <a:cs typeface="Times New Roman"/>
                <a:sym typeface="Times New Roman"/>
              </a:rPr>
              <a:t>Certain points should be considered for selection of microorganisms for bioaccumulation process, such as:</a:t>
            </a:r>
            <a:endParaRPr/>
          </a:p>
          <a:p>
            <a:pPr indent="-152400" lvl="0" marL="91440" rtl="0" algn="l">
              <a:lnSpc>
                <a:spcPct val="90000"/>
              </a:lnSpc>
              <a:spcBef>
                <a:spcPts val="1400"/>
              </a:spcBef>
              <a:spcAft>
                <a:spcPts val="0"/>
              </a:spcAft>
              <a:buSzPts val="2400"/>
              <a:buFont typeface="Noto Sans Symbols"/>
              <a:buChar char="❑"/>
            </a:pPr>
            <a:r>
              <a:rPr lang="en-US" sz="2400">
                <a:latin typeface="Times New Roman"/>
                <a:ea typeface="Times New Roman"/>
                <a:cs typeface="Times New Roman"/>
                <a:sym typeface="Times New Roman"/>
              </a:rPr>
              <a:t> Isolation from polluted environment because bioaccumulation by adapted microorganisms is more efficient than by non-adapted microorganisms. </a:t>
            </a:r>
            <a:endParaRPr/>
          </a:p>
          <a:p>
            <a:pPr indent="0" lvl="0" marL="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a:p>
            <a:pPr indent="-152400" lvl="0" marL="91440" rtl="0" algn="l">
              <a:lnSpc>
                <a:spcPct val="90000"/>
              </a:lnSpc>
              <a:spcBef>
                <a:spcPts val="1400"/>
              </a:spcBef>
              <a:spcAft>
                <a:spcPts val="0"/>
              </a:spcAft>
              <a:buSzPts val="2400"/>
              <a:buFont typeface="Noto Sans Symbols"/>
              <a:buChar char="❑"/>
            </a:pPr>
            <a:r>
              <a:rPr lang="en-US" sz="2400">
                <a:latin typeface="Times New Roman"/>
                <a:ea typeface="Times New Roman"/>
                <a:cs typeface="Times New Roman"/>
                <a:sym typeface="Times New Roman"/>
              </a:rPr>
              <a:t> Resistant to high loads of pollutants and do not have mechanisms for protection from excessive accumulation inside the cell.</a:t>
            </a:r>
            <a:endParaRPr/>
          </a:p>
          <a:p>
            <a:pPr indent="0" lvl="0" marL="0" rtl="0" algn="l">
              <a:lnSpc>
                <a:spcPct val="90000"/>
              </a:lnSpc>
              <a:spcBef>
                <a:spcPts val="1400"/>
              </a:spcBef>
              <a:spcAft>
                <a:spcPts val="0"/>
              </a:spcAft>
              <a:buSzPts val="2400"/>
              <a:buNone/>
            </a:pPr>
            <a:r>
              <a:t/>
            </a:r>
            <a:endParaRPr sz="2400">
              <a:latin typeface="Times New Roman"/>
              <a:ea typeface="Times New Roman"/>
              <a:cs typeface="Times New Roman"/>
              <a:sym typeface="Times New Roman"/>
            </a:endParaRPr>
          </a:p>
          <a:p>
            <a:pPr indent="-152400" lvl="0" marL="91440" rtl="0" algn="l">
              <a:lnSpc>
                <a:spcPct val="90000"/>
              </a:lnSpc>
              <a:spcBef>
                <a:spcPts val="1400"/>
              </a:spcBef>
              <a:spcAft>
                <a:spcPts val="0"/>
              </a:spcAft>
              <a:buSzPts val="2400"/>
              <a:buFont typeface="Noto Sans Symbols"/>
              <a:buChar char="❑"/>
            </a:pPr>
            <a:r>
              <a:rPr lang="en-US" sz="2400">
                <a:latin typeface="Times New Roman"/>
                <a:ea typeface="Times New Roman"/>
                <a:cs typeface="Times New Roman"/>
                <a:sym typeface="Times New Roman"/>
              </a:rPr>
              <a:t> Presence of mechanism for intracellular binding.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7"/>
          <p:cNvSpPr/>
          <p:nvPr/>
        </p:nvSpPr>
        <p:spPr>
          <a:xfrm>
            <a:off x="543339" y="1108069"/>
            <a:ext cx="4008783"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Limelight"/>
                <a:ea typeface="Limelight"/>
                <a:cs typeface="Limelight"/>
                <a:sym typeface="Limelight"/>
              </a:rPr>
              <a:t>Factors Affecting Bioaccumulation</a:t>
            </a:r>
            <a:endParaRPr/>
          </a:p>
        </p:txBody>
      </p:sp>
      <p:grpSp>
        <p:nvGrpSpPr>
          <p:cNvPr id="244" name="Google Shape;244;p17"/>
          <p:cNvGrpSpPr/>
          <p:nvPr/>
        </p:nvGrpSpPr>
        <p:grpSpPr>
          <a:xfrm>
            <a:off x="5207544" y="119270"/>
            <a:ext cx="1800101" cy="6082746"/>
            <a:chOff x="5048518" y="0"/>
            <a:chExt cx="1800101" cy="6082746"/>
          </a:xfrm>
        </p:grpSpPr>
        <p:sp>
          <p:nvSpPr>
            <p:cNvPr id="245" name="Google Shape;245;p17"/>
            <p:cNvSpPr/>
            <p:nvPr/>
          </p:nvSpPr>
          <p:spPr>
            <a:xfrm>
              <a:off x="5453205" y="0"/>
              <a:ext cx="1389178" cy="1389299"/>
            </a:xfrm>
            <a:custGeom>
              <a:rect b="b" l="l" r="r" t="t"/>
              <a:pathLst>
                <a:path extrusionOk="0" h="120000" w="120000">
                  <a:moveTo>
                    <a:pt x="8412" y="60000"/>
                  </a:moveTo>
                  <a:lnTo>
                    <a:pt x="8412" y="60000"/>
                  </a:lnTo>
                  <a:cubicBezTo>
                    <a:pt x="8412" y="32962"/>
                    <a:pt x="29287" y="10511"/>
                    <a:pt x="56253" y="8548"/>
                  </a:cubicBezTo>
                  <a:cubicBezTo>
                    <a:pt x="83220" y="6584"/>
                    <a:pt x="107127" y="25774"/>
                    <a:pt x="111044" y="52526"/>
                  </a:cubicBezTo>
                  <a:cubicBezTo>
                    <a:pt x="114961" y="79279"/>
                    <a:pt x="97558" y="104517"/>
                    <a:pt x="71161" y="110367"/>
                  </a:cubicBezTo>
                  <a:lnTo>
                    <a:pt x="70592" y="118429"/>
                  </a:lnTo>
                  <a:lnTo>
                    <a:pt x="56830" y="104890"/>
                  </a:lnTo>
                  <a:lnTo>
                    <a:pt x="72705" y="88506"/>
                  </a:lnTo>
                  <a:lnTo>
                    <a:pt x="72144" y="96444"/>
                  </a:lnTo>
                  <a:cubicBezTo>
                    <a:pt x="90761" y="90239"/>
                    <a:pt x="101708" y="71000"/>
                    <a:pt x="97532" y="51825"/>
                  </a:cubicBezTo>
                  <a:cubicBezTo>
                    <a:pt x="93356" y="32651"/>
                    <a:pt x="75400" y="19707"/>
                    <a:pt x="55889" y="21807"/>
                  </a:cubicBezTo>
                  <a:cubicBezTo>
                    <a:pt x="36379" y="23907"/>
                    <a:pt x="21588" y="40376"/>
                    <a:pt x="21588" y="60000"/>
                  </a:cubicBezTo>
                  <a:close/>
                </a:path>
              </a:pathLst>
            </a:custGeom>
            <a:solidFill>
              <a:srgbClr val="2383C6"/>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7"/>
            <p:cNvSpPr/>
            <p:nvPr/>
          </p:nvSpPr>
          <p:spPr>
            <a:xfrm>
              <a:off x="5759913" y="503043"/>
              <a:ext cx="775240" cy="38747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7"/>
            <p:cNvSpPr txBox="1"/>
            <p:nvPr/>
          </p:nvSpPr>
          <p:spPr>
            <a:xfrm>
              <a:off x="5759913" y="503043"/>
              <a:ext cx="775240" cy="387470"/>
            </a:xfrm>
            <a:prstGeom prst="rect">
              <a:avLst/>
            </a:prstGeom>
            <a:noFill/>
            <a:ln>
              <a:noFill/>
            </a:ln>
          </p:spPr>
          <p:txBody>
            <a:bodyPr anchorCtr="0" anchor="ctr" bIns="6975" lIns="6975" spcFirstLastPara="1" rIns="6975" wrap="square" tIns="6975">
              <a:noAutofit/>
            </a:bodyPr>
            <a:lstStyle/>
            <a:p>
              <a:pPr indent="0" lvl="0" marL="0" marR="0" rtl="0" algn="ctr">
                <a:lnSpc>
                  <a:spcPct val="90000"/>
                </a:lnSpc>
                <a:spcBef>
                  <a:spcPts val="0"/>
                </a:spcBef>
                <a:spcAft>
                  <a:spcPts val="0"/>
                </a:spcAft>
                <a:buClr>
                  <a:schemeClr val="dk1"/>
                </a:buClr>
                <a:buSzPts val="1050"/>
                <a:buFont typeface="Arial Black"/>
                <a:buNone/>
              </a:pPr>
              <a:r>
                <a:rPr lang="en-US" sz="1050">
                  <a:solidFill>
                    <a:schemeClr val="dk1"/>
                  </a:solidFill>
                  <a:latin typeface="Arial Black"/>
                  <a:ea typeface="Arial Black"/>
                  <a:cs typeface="Arial Black"/>
                  <a:sym typeface="Arial Black"/>
                </a:rPr>
                <a:t>Biomass size</a:t>
              </a:r>
              <a:endParaRPr/>
            </a:p>
          </p:txBody>
        </p:sp>
        <p:sp>
          <p:nvSpPr>
            <p:cNvPr id="248" name="Google Shape;248;p17"/>
            <p:cNvSpPr/>
            <p:nvPr/>
          </p:nvSpPr>
          <p:spPr>
            <a:xfrm>
              <a:off x="5048518" y="919390"/>
              <a:ext cx="1426699" cy="1146630"/>
            </a:xfrm>
            <a:custGeom>
              <a:rect b="b" l="l" r="r" t="t"/>
              <a:pathLst>
                <a:path extrusionOk="0" h="120000" w="120000">
                  <a:moveTo>
                    <a:pt x="92712" y="19298"/>
                  </a:moveTo>
                  <a:lnTo>
                    <a:pt x="85008" y="28884"/>
                  </a:lnTo>
                  <a:lnTo>
                    <a:pt x="85008" y="28884"/>
                  </a:lnTo>
                  <a:cubicBezTo>
                    <a:pt x="71034" y="19774"/>
                    <a:pt x="52343" y="19143"/>
                    <a:pt x="37651" y="27284"/>
                  </a:cubicBezTo>
                  <a:cubicBezTo>
                    <a:pt x="22958" y="35426"/>
                    <a:pt x="15158" y="50737"/>
                    <a:pt x="17887" y="66077"/>
                  </a:cubicBezTo>
                  <a:cubicBezTo>
                    <a:pt x="20617" y="81418"/>
                    <a:pt x="33338" y="93767"/>
                    <a:pt x="50119" y="97367"/>
                  </a:cubicBezTo>
                  <a:lnTo>
                    <a:pt x="49652" y="89145"/>
                  </a:lnTo>
                  <a:lnTo>
                    <a:pt x="62550" y="104936"/>
                  </a:lnTo>
                  <a:lnTo>
                    <a:pt x="51350" y="119071"/>
                  </a:lnTo>
                  <a:lnTo>
                    <a:pt x="50883" y="110826"/>
                  </a:lnTo>
                  <a:lnTo>
                    <a:pt x="50883" y="110826"/>
                  </a:lnTo>
                  <a:cubicBezTo>
                    <a:pt x="29049" y="107149"/>
                    <a:pt x="11850" y="90751"/>
                    <a:pt x="7702" y="69657"/>
                  </a:cubicBezTo>
                  <a:cubicBezTo>
                    <a:pt x="3553" y="48564"/>
                    <a:pt x="13323" y="27186"/>
                    <a:pt x="32230" y="15986"/>
                  </a:cubicBezTo>
                  <a:cubicBezTo>
                    <a:pt x="51138" y="4785"/>
                    <a:pt x="75228" y="6105"/>
                    <a:pt x="92712" y="19298"/>
                  </a:cubicBezTo>
                  <a:close/>
                </a:path>
              </a:pathLst>
            </a:custGeom>
            <a:solidFill>
              <a:srgbClr val="26C4CB"/>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7"/>
            <p:cNvSpPr/>
            <p:nvPr/>
          </p:nvSpPr>
          <p:spPr>
            <a:xfrm>
              <a:off x="5321746" y="1302924"/>
              <a:ext cx="876594" cy="38747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7"/>
            <p:cNvSpPr txBox="1"/>
            <p:nvPr/>
          </p:nvSpPr>
          <p:spPr>
            <a:xfrm>
              <a:off x="5321746" y="1302924"/>
              <a:ext cx="876594" cy="387470"/>
            </a:xfrm>
            <a:prstGeom prst="rect">
              <a:avLst/>
            </a:prstGeom>
            <a:noFill/>
            <a:ln>
              <a:noFill/>
            </a:ln>
          </p:spPr>
          <p:txBody>
            <a:bodyPr anchorCtr="0" anchor="ctr" bIns="6975" lIns="6975" spcFirstLastPara="1" rIns="6975" wrap="square" tIns="6975">
              <a:noAutofit/>
            </a:bodyPr>
            <a:lstStyle/>
            <a:p>
              <a:pPr indent="0" lvl="0" marL="0" marR="0" rtl="0" algn="ctr">
                <a:lnSpc>
                  <a:spcPct val="90000"/>
                </a:lnSpc>
                <a:spcBef>
                  <a:spcPts val="0"/>
                </a:spcBef>
                <a:spcAft>
                  <a:spcPts val="0"/>
                </a:spcAft>
                <a:buClr>
                  <a:schemeClr val="dk1"/>
                </a:buClr>
                <a:buSzPts val="1050"/>
                <a:buFont typeface="Arial Black"/>
                <a:buNone/>
              </a:pPr>
              <a:r>
                <a:rPr lang="en-US" sz="1050">
                  <a:solidFill>
                    <a:schemeClr val="dk1"/>
                  </a:solidFill>
                  <a:latin typeface="Arial Black"/>
                  <a:ea typeface="Arial Black"/>
                  <a:cs typeface="Arial Black"/>
                  <a:sym typeface="Arial Black"/>
                </a:rPr>
                <a:t>Biomass dosage</a:t>
              </a:r>
              <a:endParaRPr/>
            </a:p>
          </p:txBody>
        </p:sp>
        <p:sp>
          <p:nvSpPr>
            <p:cNvPr id="251" name="Google Shape;251;p17"/>
            <p:cNvSpPr/>
            <p:nvPr/>
          </p:nvSpPr>
          <p:spPr>
            <a:xfrm>
              <a:off x="5446967" y="1630021"/>
              <a:ext cx="1401652" cy="1328781"/>
            </a:xfrm>
            <a:custGeom>
              <a:rect b="b" l="l" r="r" t="t"/>
              <a:pathLst>
                <a:path extrusionOk="0" h="120000" w="120000">
                  <a:moveTo>
                    <a:pt x="24366" y="22412"/>
                  </a:moveTo>
                  <a:lnTo>
                    <a:pt x="24366" y="22412"/>
                  </a:lnTo>
                  <a:cubicBezTo>
                    <a:pt x="40418" y="7450"/>
                    <a:pt x="64234" y="4135"/>
                    <a:pt x="83820" y="14137"/>
                  </a:cubicBezTo>
                  <a:cubicBezTo>
                    <a:pt x="103406" y="24139"/>
                    <a:pt x="114515" y="45290"/>
                    <a:pt x="111553" y="66937"/>
                  </a:cubicBezTo>
                  <a:cubicBezTo>
                    <a:pt x="108590" y="88585"/>
                    <a:pt x="92198" y="106034"/>
                    <a:pt x="70633" y="110499"/>
                  </a:cubicBezTo>
                  <a:lnTo>
                    <a:pt x="70089" y="118622"/>
                  </a:lnTo>
                  <a:lnTo>
                    <a:pt x="56994" y="104903"/>
                  </a:lnTo>
                  <a:lnTo>
                    <a:pt x="72092" y="88697"/>
                  </a:lnTo>
                  <a:lnTo>
                    <a:pt x="71554" y="96735"/>
                  </a:lnTo>
                  <a:cubicBezTo>
                    <a:pt x="87099" y="92119"/>
                    <a:pt x="98152" y="78730"/>
                    <a:pt x="99415" y="62984"/>
                  </a:cubicBezTo>
                  <a:cubicBezTo>
                    <a:pt x="100678" y="47239"/>
                    <a:pt x="91893" y="32347"/>
                    <a:pt x="77271" y="25447"/>
                  </a:cubicBezTo>
                  <a:cubicBezTo>
                    <a:pt x="62649" y="18548"/>
                    <a:pt x="45172" y="21047"/>
                    <a:pt x="33216" y="31747"/>
                  </a:cubicBezTo>
                  <a:close/>
                </a:path>
              </a:pathLst>
            </a:custGeom>
            <a:solidFill>
              <a:schemeClr val="accent4"/>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7"/>
            <p:cNvSpPr/>
            <p:nvPr/>
          </p:nvSpPr>
          <p:spPr>
            <a:xfrm>
              <a:off x="5414152" y="2066017"/>
              <a:ext cx="1108957" cy="46104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7"/>
            <p:cNvSpPr txBox="1"/>
            <p:nvPr/>
          </p:nvSpPr>
          <p:spPr>
            <a:xfrm>
              <a:off x="5414152" y="2066017"/>
              <a:ext cx="1108957" cy="461047"/>
            </a:xfrm>
            <a:prstGeom prst="rect">
              <a:avLst/>
            </a:prstGeom>
            <a:noFill/>
            <a:ln>
              <a:noFill/>
            </a:ln>
          </p:spPr>
          <p:txBody>
            <a:bodyPr anchorCtr="0" anchor="ctr" bIns="6350" lIns="6350" spcFirstLastPara="1" rIns="6350" wrap="square" tIns="6350">
              <a:noAutofit/>
            </a:bodyPr>
            <a:lstStyle/>
            <a:p>
              <a:pPr indent="0" lvl="0" marL="0" marR="0" rtl="0" algn="ctr">
                <a:lnSpc>
                  <a:spcPct val="100000"/>
                </a:lnSpc>
                <a:spcBef>
                  <a:spcPts val="0"/>
                </a:spcBef>
                <a:spcAft>
                  <a:spcPts val="0"/>
                </a:spcAft>
                <a:buClr>
                  <a:schemeClr val="dk1"/>
                </a:buClr>
                <a:buSzPts val="1000"/>
                <a:buFont typeface="Arial Black"/>
                <a:buNone/>
              </a:pPr>
              <a:r>
                <a:rPr lang="en-US" sz="1000">
                  <a:solidFill>
                    <a:schemeClr val="dk1"/>
                  </a:solidFill>
                  <a:latin typeface="Arial Black"/>
                  <a:ea typeface="Arial Black"/>
                  <a:cs typeface="Arial Black"/>
                  <a:sym typeface="Arial Black"/>
                </a:rPr>
                <a:t>Initial </a:t>
              </a:r>
              <a:endParaRPr/>
            </a:p>
            <a:p>
              <a:pPr indent="0" lvl="0" marL="0" marR="0" rtl="0" algn="ctr">
                <a:lnSpc>
                  <a:spcPct val="100000"/>
                </a:lnSpc>
                <a:spcBef>
                  <a:spcPts val="350"/>
                </a:spcBef>
                <a:spcAft>
                  <a:spcPts val="0"/>
                </a:spcAft>
                <a:buClr>
                  <a:schemeClr val="dk1"/>
                </a:buClr>
                <a:buSzPts val="1000"/>
                <a:buFont typeface="Arial Black"/>
                <a:buNone/>
              </a:pPr>
              <a:r>
                <a:rPr lang="en-US" sz="1000">
                  <a:solidFill>
                    <a:schemeClr val="dk1"/>
                  </a:solidFill>
                  <a:latin typeface="Arial Black"/>
                  <a:ea typeface="Arial Black"/>
                  <a:cs typeface="Arial Black"/>
                  <a:sym typeface="Arial Black"/>
                </a:rPr>
                <a:t>metal ion concentration</a:t>
              </a:r>
              <a:endParaRPr/>
            </a:p>
          </p:txBody>
        </p:sp>
        <p:sp>
          <p:nvSpPr>
            <p:cNvPr id="254" name="Google Shape;254;p17"/>
            <p:cNvSpPr/>
            <p:nvPr/>
          </p:nvSpPr>
          <p:spPr>
            <a:xfrm>
              <a:off x="5105731" y="2544415"/>
              <a:ext cx="1312273" cy="1099755"/>
            </a:xfrm>
            <a:custGeom>
              <a:rect b="b" l="l" r="r" t="t"/>
              <a:pathLst>
                <a:path extrusionOk="0" h="120000" w="120000">
                  <a:moveTo>
                    <a:pt x="93489" y="20040"/>
                  </a:moveTo>
                  <a:lnTo>
                    <a:pt x="85529" y="29538"/>
                  </a:lnTo>
                  <a:lnTo>
                    <a:pt x="85529" y="29538"/>
                  </a:lnTo>
                  <a:cubicBezTo>
                    <a:pt x="72029" y="20033"/>
                    <a:pt x="53597" y="18957"/>
                    <a:pt x="38891" y="26817"/>
                  </a:cubicBezTo>
                  <a:cubicBezTo>
                    <a:pt x="24185" y="34676"/>
                    <a:pt x="16127" y="49909"/>
                    <a:pt x="18502" y="65359"/>
                  </a:cubicBezTo>
                  <a:cubicBezTo>
                    <a:pt x="20877" y="80810"/>
                    <a:pt x="33213" y="93409"/>
                    <a:pt x="49716" y="97237"/>
                  </a:cubicBezTo>
                  <a:lnTo>
                    <a:pt x="49231" y="89049"/>
                  </a:lnTo>
                  <a:lnTo>
                    <a:pt x="62659" y="104929"/>
                  </a:lnTo>
                  <a:lnTo>
                    <a:pt x="51002" y="118975"/>
                  </a:lnTo>
                  <a:lnTo>
                    <a:pt x="50516" y="110754"/>
                  </a:lnTo>
                  <a:cubicBezTo>
                    <a:pt x="28736" y="106891"/>
                    <a:pt x="11722" y="90235"/>
                    <a:pt x="7861" y="68997"/>
                  </a:cubicBezTo>
                  <a:cubicBezTo>
                    <a:pt x="4000" y="47760"/>
                    <a:pt x="14108" y="26424"/>
                    <a:pt x="33200" y="15508"/>
                  </a:cubicBezTo>
                  <a:cubicBezTo>
                    <a:pt x="52293" y="4591"/>
                    <a:pt x="76341" y="6399"/>
                    <a:pt x="93489" y="20040"/>
                  </a:cubicBezTo>
                  <a:close/>
                </a:path>
              </a:pathLst>
            </a:custGeom>
            <a:solidFill>
              <a:srgbClr val="3B8850"/>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7"/>
            <p:cNvSpPr/>
            <p:nvPr/>
          </p:nvSpPr>
          <p:spPr>
            <a:xfrm>
              <a:off x="5372424" y="2902686"/>
              <a:ext cx="775240" cy="38747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7"/>
            <p:cNvSpPr txBox="1"/>
            <p:nvPr/>
          </p:nvSpPr>
          <p:spPr>
            <a:xfrm>
              <a:off x="5372424" y="2902686"/>
              <a:ext cx="775240" cy="387470"/>
            </a:xfrm>
            <a:prstGeom prst="rect">
              <a:avLst/>
            </a:prstGeom>
            <a:noFill/>
            <a:ln>
              <a:noFill/>
            </a:ln>
          </p:spPr>
          <p:txBody>
            <a:bodyPr anchorCtr="0" anchor="ctr" bIns="6975" lIns="6975" spcFirstLastPara="1" rIns="6975" wrap="square" tIns="6975">
              <a:noAutofit/>
            </a:bodyPr>
            <a:lstStyle/>
            <a:p>
              <a:pPr indent="0" lvl="0" marL="0" marR="0" rtl="0" algn="ctr">
                <a:lnSpc>
                  <a:spcPct val="90000"/>
                </a:lnSpc>
                <a:spcBef>
                  <a:spcPts val="0"/>
                </a:spcBef>
                <a:spcAft>
                  <a:spcPts val="0"/>
                </a:spcAft>
                <a:buClr>
                  <a:schemeClr val="dk1"/>
                </a:buClr>
                <a:buSzPts val="1050"/>
                <a:buFont typeface="Arial Black"/>
                <a:buNone/>
              </a:pPr>
              <a:r>
                <a:rPr lang="en-US" sz="1050">
                  <a:solidFill>
                    <a:schemeClr val="dk1"/>
                  </a:solidFill>
                  <a:latin typeface="Arial Black"/>
                  <a:ea typeface="Arial Black"/>
                  <a:cs typeface="Arial Black"/>
                  <a:sym typeface="Arial Black"/>
                </a:rPr>
                <a:t>Nutrient</a:t>
              </a:r>
              <a:r>
                <a:rPr lang="en-US" sz="1100">
                  <a:solidFill>
                    <a:schemeClr val="dk1"/>
                  </a:solidFill>
                  <a:latin typeface="Calibri"/>
                  <a:ea typeface="Calibri"/>
                  <a:cs typeface="Calibri"/>
                  <a:sym typeface="Calibri"/>
                </a:rPr>
                <a:t> </a:t>
              </a:r>
              <a:endParaRPr/>
            </a:p>
          </p:txBody>
        </p:sp>
        <p:sp>
          <p:nvSpPr>
            <p:cNvPr id="257" name="Google Shape;257;p17"/>
            <p:cNvSpPr/>
            <p:nvPr/>
          </p:nvSpPr>
          <p:spPr>
            <a:xfrm>
              <a:off x="5453205" y="3198308"/>
              <a:ext cx="1389178" cy="1389299"/>
            </a:xfrm>
            <a:custGeom>
              <a:rect b="b" l="l" r="r" t="t"/>
              <a:pathLst>
                <a:path extrusionOk="0" h="120000" w="120000">
                  <a:moveTo>
                    <a:pt x="23520" y="23523"/>
                  </a:moveTo>
                  <a:lnTo>
                    <a:pt x="23520" y="23523"/>
                  </a:lnTo>
                  <a:cubicBezTo>
                    <a:pt x="39050" y="7991"/>
                    <a:pt x="62711" y="3996"/>
                    <a:pt x="82480" y="13567"/>
                  </a:cubicBezTo>
                  <a:cubicBezTo>
                    <a:pt x="102248" y="23138"/>
                    <a:pt x="113790" y="44176"/>
                    <a:pt x="111239" y="65991"/>
                  </a:cubicBezTo>
                  <a:cubicBezTo>
                    <a:pt x="108688" y="87807"/>
                    <a:pt x="92604" y="105615"/>
                    <a:pt x="71161" y="110367"/>
                  </a:cubicBezTo>
                  <a:lnTo>
                    <a:pt x="70592" y="118429"/>
                  </a:lnTo>
                  <a:lnTo>
                    <a:pt x="56830" y="104890"/>
                  </a:lnTo>
                  <a:lnTo>
                    <a:pt x="72705" y="88506"/>
                  </a:lnTo>
                  <a:lnTo>
                    <a:pt x="72144" y="96444"/>
                  </a:lnTo>
                  <a:cubicBezTo>
                    <a:pt x="87198" y="91427"/>
                    <a:pt x="97618" y="77669"/>
                    <a:pt x="98369" y="61817"/>
                  </a:cubicBezTo>
                  <a:cubicBezTo>
                    <a:pt x="99120" y="45966"/>
                    <a:pt x="90047" y="31285"/>
                    <a:pt x="75534" y="24867"/>
                  </a:cubicBezTo>
                  <a:cubicBezTo>
                    <a:pt x="61021" y="18450"/>
                    <a:pt x="44056" y="21617"/>
                    <a:pt x="32837" y="32839"/>
                  </a:cubicBezTo>
                  <a:close/>
                </a:path>
              </a:pathLst>
            </a:custGeom>
            <a:solidFill>
              <a:srgbClr val="61A39F"/>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7"/>
            <p:cNvSpPr/>
            <p:nvPr/>
          </p:nvSpPr>
          <p:spPr>
            <a:xfrm>
              <a:off x="5759913" y="3701351"/>
              <a:ext cx="775240" cy="38747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7"/>
            <p:cNvSpPr txBox="1"/>
            <p:nvPr/>
          </p:nvSpPr>
          <p:spPr>
            <a:xfrm>
              <a:off x="5759913" y="3701351"/>
              <a:ext cx="775240" cy="387470"/>
            </a:xfrm>
            <a:prstGeom prst="rect">
              <a:avLst/>
            </a:prstGeom>
            <a:noFill/>
            <a:ln>
              <a:noFill/>
            </a:ln>
          </p:spPr>
          <p:txBody>
            <a:bodyPr anchorCtr="0" anchor="ctr" bIns="7600" lIns="7600" spcFirstLastPara="1" rIns="7600" wrap="square" tIns="7600">
              <a:noAutofit/>
            </a:bodyPr>
            <a:lstStyle/>
            <a:p>
              <a:pPr indent="0" lvl="0" marL="0" marR="0" rtl="0" algn="ctr">
                <a:lnSpc>
                  <a:spcPct val="90000"/>
                </a:lnSpc>
                <a:spcBef>
                  <a:spcPts val="0"/>
                </a:spcBef>
                <a:spcAft>
                  <a:spcPts val="0"/>
                </a:spcAft>
                <a:buClr>
                  <a:schemeClr val="dk1"/>
                </a:buClr>
                <a:buSzPts val="1200"/>
                <a:buFont typeface="Arial Black"/>
                <a:buNone/>
              </a:pPr>
              <a:r>
                <a:rPr lang="en-US" sz="1200">
                  <a:solidFill>
                    <a:schemeClr val="dk1"/>
                  </a:solidFill>
                  <a:latin typeface="Arial Black"/>
                  <a:ea typeface="Arial Black"/>
                  <a:cs typeface="Arial Black"/>
                  <a:sym typeface="Arial Black"/>
                </a:rPr>
                <a:t>pH</a:t>
              </a:r>
              <a:endParaRPr/>
            </a:p>
          </p:txBody>
        </p:sp>
        <p:sp>
          <p:nvSpPr>
            <p:cNvPr id="260" name="Google Shape;260;p17"/>
            <p:cNvSpPr/>
            <p:nvPr/>
          </p:nvSpPr>
          <p:spPr>
            <a:xfrm>
              <a:off x="5067279" y="3998189"/>
              <a:ext cx="1389178" cy="1389299"/>
            </a:xfrm>
            <a:custGeom>
              <a:rect b="b" l="l" r="r" t="t"/>
              <a:pathLst>
                <a:path extrusionOk="0" h="120000" w="120000">
                  <a:moveTo>
                    <a:pt x="96480" y="23523"/>
                  </a:moveTo>
                  <a:lnTo>
                    <a:pt x="87163" y="32839"/>
                  </a:lnTo>
                  <a:cubicBezTo>
                    <a:pt x="75944" y="21617"/>
                    <a:pt x="58979" y="18450"/>
                    <a:pt x="44466" y="24867"/>
                  </a:cubicBezTo>
                  <a:cubicBezTo>
                    <a:pt x="29953" y="31285"/>
                    <a:pt x="20880" y="45966"/>
                    <a:pt x="21631" y="61817"/>
                  </a:cubicBezTo>
                  <a:cubicBezTo>
                    <a:pt x="22382" y="77669"/>
                    <a:pt x="32802" y="91427"/>
                    <a:pt x="47856" y="96444"/>
                  </a:cubicBezTo>
                  <a:lnTo>
                    <a:pt x="47295" y="88506"/>
                  </a:lnTo>
                  <a:lnTo>
                    <a:pt x="63170" y="104890"/>
                  </a:lnTo>
                  <a:lnTo>
                    <a:pt x="49408" y="118429"/>
                  </a:lnTo>
                  <a:lnTo>
                    <a:pt x="48839" y="110367"/>
                  </a:lnTo>
                  <a:lnTo>
                    <a:pt x="48839" y="110367"/>
                  </a:lnTo>
                  <a:cubicBezTo>
                    <a:pt x="27396" y="105615"/>
                    <a:pt x="11312" y="87807"/>
                    <a:pt x="8761" y="65991"/>
                  </a:cubicBezTo>
                  <a:cubicBezTo>
                    <a:pt x="6210" y="44176"/>
                    <a:pt x="17752" y="23138"/>
                    <a:pt x="37520" y="13567"/>
                  </a:cubicBezTo>
                  <a:cubicBezTo>
                    <a:pt x="57289" y="3996"/>
                    <a:pt x="80950" y="7991"/>
                    <a:pt x="96480" y="23523"/>
                  </a:cubicBezTo>
                  <a:close/>
                </a:path>
              </a:pathLst>
            </a:custGeom>
            <a:solidFill>
              <a:srgbClr val="2383C6"/>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7"/>
            <p:cNvSpPr/>
            <p:nvPr/>
          </p:nvSpPr>
          <p:spPr>
            <a:xfrm>
              <a:off x="5258432" y="4451535"/>
              <a:ext cx="1380904" cy="38747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7"/>
            <p:cNvSpPr txBox="1"/>
            <p:nvPr/>
          </p:nvSpPr>
          <p:spPr>
            <a:xfrm>
              <a:off x="5258432" y="4451535"/>
              <a:ext cx="1380904" cy="387470"/>
            </a:xfrm>
            <a:prstGeom prst="rect">
              <a:avLst/>
            </a:prstGeom>
            <a:noFill/>
            <a:ln>
              <a:noFill/>
            </a:ln>
          </p:spPr>
          <p:txBody>
            <a:bodyPr anchorCtr="0" anchor="ctr" bIns="6975" lIns="6975" spcFirstLastPara="1" rIns="6975" wrap="square" tIns="6975">
              <a:noAutofit/>
            </a:bodyPr>
            <a:lstStyle/>
            <a:p>
              <a:pPr indent="0" lvl="0" marL="0" marR="0" rtl="0" algn="ctr">
                <a:lnSpc>
                  <a:spcPct val="90000"/>
                </a:lnSpc>
                <a:spcBef>
                  <a:spcPts val="0"/>
                </a:spcBef>
                <a:spcAft>
                  <a:spcPts val="0"/>
                </a:spcAft>
                <a:buClr>
                  <a:schemeClr val="dk1"/>
                </a:buClr>
                <a:buSzPts val="1050"/>
                <a:buFont typeface="Arial Black"/>
                <a:buNone/>
              </a:pPr>
              <a:r>
                <a:rPr lang="en-US" sz="1050">
                  <a:solidFill>
                    <a:schemeClr val="dk1"/>
                  </a:solidFill>
                  <a:latin typeface="Arial Black"/>
                  <a:ea typeface="Arial Black"/>
                  <a:cs typeface="Arial Black"/>
                  <a:sym typeface="Arial Black"/>
                </a:rPr>
                <a:t>Temperature</a:t>
              </a:r>
              <a:endParaRPr/>
            </a:p>
          </p:txBody>
        </p:sp>
        <p:sp>
          <p:nvSpPr>
            <p:cNvPr id="263" name="Google Shape;263;p17"/>
            <p:cNvSpPr/>
            <p:nvPr/>
          </p:nvSpPr>
          <p:spPr>
            <a:xfrm>
              <a:off x="5551966" y="4888703"/>
              <a:ext cx="1193478" cy="1194043"/>
            </a:xfrm>
            <a:prstGeom prst="blockArc">
              <a:avLst>
                <a:gd fmla="val 13500000" name="adj1"/>
                <a:gd fmla="val 10800000" name="adj2"/>
                <a:gd fmla="val 12740" name="adj3"/>
              </a:avLst>
            </a:prstGeom>
            <a:solidFill>
              <a:srgbClr val="26C4CB"/>
            </a:solidFill>
            <a:ln cap="flat"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7"/>
            <p:cNvSpPr/>
            <p:nvPr/>
          </p:nvSpPr>
          <p:spPr>
            <a:xfrm>
              <a:off x="5759913" y="5301114"/>
              <a:ext cx="775240" cy="38747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7"/>
            <p:cNvSpPr txBox="1"/>
            <p:nvPr/>
          </p:nvSpPr>
          <p:spPr>
            <a:xfrm>
              <a:off x="5759913" y="5301114"/>
              <a:ext cx="775240" cy="387470"/>
            </a:xfrm>
            <a:prstGeom prst="rect">
              <a:avLst/>
            </a:prstGeom>
            <a:noFill/>
            <a:ln>
              <a:noFill/>
            </a:ln>
          </p:spPr>
          <p:txBody>
            <a:bodyPr anchorCtr="0" anchor="ctr" bIns="6975" lIns="6975" spcFirstLastPara="1" rIns="6975" wrap="square" tIns="6975">
              <a:noAutofit/>
            </a:bodyPr>
            <a:lstStyle/>
            <a:p>
              <a:pPr indent="0" lvl="0" marL="0" marR="0" rtl="0" algn="ctr">
                <a:lnSpc>
                  <a:spcPct val="90000"/>
                </a:lnSpc>
                <a:spcBef>
                  <a:spcPts val="0"/>
                </a:spcBef>
                <a:spcAft>
                  <a:spcPts val="0"/>
                </a:spcAft>
                <a:buClr>
                  <a:schemeClr val="dk1"/>
                </a:buClr>
                <a:buSzPts val="1050"/>
                <a:buFont typeface="Arial Black"/>
                <a:buNone/>
              </a:pPr>
              <a:r>
                <a:rPr lang="en-US" sz="1050">
                  <a:solidFill>
                    <a:schemeClr val="dk1"/>
                  </a:solidFill>
                  <a:latin typeface="Arial Black"/>
                  <a:ea typeface="Arial Black"/>
                  <a:cs typeface="Arial Black"/>
                  <a:sym typeface="Arial Black"/>
                </a:rPr>
                <a:t>Time</a:t>
              </a:r>
              <a:endParaRPr/>
            </a:p>
          </p:txBody>
        </p:sp>
      </p:grpSp>
      <p:pic>
        <p:nvPicPr>
          <p:cNvPr id="266" name="Google Shape;266;p17"/>
          <p:cNvPicPr preferRelativeResize="0"/>
          <p:nvPr/>
        </p:nvPicPr>
        <p:blipFill rotWithShape="1">
          <a:blip r:embed="rId3">
            <a:alphaModFix/>
          </a:blip>
          <a:srcRect b="0" l="0" r="0" t="0"/>
          <a:stretch/>
        </p:blipFill>
        <p:spPr>
          <a:xfrm>
            <a:off x="7201912" y="119270"/>
            <a:ext cx="4854253" cy="6192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8"/>
          <p:cNvSpPr txBox="1"/>
          <p:nvPr>
            <p:ph type="title"/>
          </p:nvPr>
        </p:nvSpPr>
        <p:spPr>
          <a:xfrm>
            <a:off x="1097280" y="713202"/>
            <a:ext cx="10058400" cy="904461"/>
          </a:xfrm>
          <a:prstGeom prst="rect">
            <a:avLst/>
          </a:prstGeom>
          <a:noFill/>
          <a:ln>
            <a:noFill/>
          </a:ln>
        </p:spPr>
        <p:txBody>
          <a:bodyPr anchorCtr="0" anchor="b" bIns="45700" lIns="91425" spcFirstLastPara="1" rIns="91425" wrap="square" tIns="45700">
            <a:noAutofit/>
          </a:bodyPr>
          <a:lstStyle/>
          <a:p>
            <a:pPr indent="0" lvl="0" marL="0" rtl="0" algn="ctr">
              <a:lnSpc>
                <a:spcPct val="85000"/>
              </a:lnSpc>
              <a:spcBef>
                <a:spcPts val="0"/>
              </a:spcBef>
              <a:spcAft>
                <a:spcPts val="0"/>
              </a:spcAft>
              <a:buClr>
                <a:schemeClr val="dk1"/>
              </a:buClr>
              <a:buSzPts val="4800"/>
              <a:buFont typeface="Arial Rounded"/>
              <a:buNone/>
            </a:pPr>
            <a:r>
              <a:rPr b="1" lang="en-US">
                <a:solidFill>
                  <a:schemeClr val="dk1"/>
                </a:solidFill>
                <a:latin typeface="Arial Rounded"/>
                <a:ea typeface="Arial Rounded"/>
                <a:cs typeface="Arial Rounded"/>
                <a:sym typeface="Arial Rounded"/>
              </a:rPr>
              <a:t>Advantages &amp; Disadvantages of Bioaccumulation</a:t>
            </a:r>
            <a:endParaRPr/>
          </a:p>
        </p:txBody>
      </p:sp>
      <p:graphicFrame>
        <p:nvGraphicFramePr>
          <p:cNvPr id="272" name="Google Shape;272;p18"/>
          <p:cNvGraphicFramePr/>
          <p:nvPr/>
        </p:nvGraphicFramePr>
        <p:xfrm>
          <a:off x="252248" y="1758981"/>
          <a:ext cx="3000000" cy="3000000"/>
        </p:xfrm>
        <a:graphic>
          <a:graphicData uri="http://schemas.openxmlformats.org/drawingml/2006/table">
            <a:tbl>
              <a:tblPr bandRow="1" firstRow="1">
                <a:noFill/>
                <a:tableStyleId>{0DE84C5B-F191-48F3-B5E9-8B4420F79BE8}</a:tableStyleId>
              </a:tblPr>
              <a:tblGrid>
                <a:gridCol w="5859525"/>
                <a:gridCol w="5859525"/>
              </a:tblGrid>
              <a:tr h="572250">
                <a:tc>
                  <a:txBody>
                    <a:bodyPr/>
                    <a:lstStyle/>
                    <a:p>
                      <a:pPr indent="0" lvl="0" marL="0" marR="0" rtl="0" algn="ctr">
                        <a:spcBef>
                          <a:spcPts val="0"/>
                        </a:spcBef>
                        <a:spcAft>
                          <a:spcPts val="0"/>
                        </a:spcAft>
                        <a:buNone/>
                      </a:pPr>
                      <a:r>
                        <a:rPr lang="en-US" sz="1800"/>
                        <a:t>ADVANTAGES</a:t>
                      </a:r>
                      <a:endParaRPr b="1" sz="1800"/>
                    </a:p>
                  </a:txBody>
                  <a:tcPr marT="45725" marB="45725" marR="91450" marL="91450"/>
                </a:tc>
                <a:tc>
                  <a:txBody>
                    <a:bodyPr/>
                    <a:lstStyle/>
                    <a:p>
                      <a:pPr indent="0" lvl="0" marL="0" marR="0" rtl="0" algn="ctr">
                        <a:spcBef>
                          <a:spcPts val="0"/>
                        </a:spcBef>
                        <a:spcAft>
                          <a:spcPts val="0"/>
                        </a:spcAft>
                        <a:buNone/>
                      </a:pPr>
                      <a:r>
                        <a:rPr lang="en-US" sz="1800"/>
                        <a:t>DISADVANTAGES</a:t>
                      </a:r>
                      <a:endParaRPr/>
                    </a:p>
                  </a:txBody>
                  <a:tcPr marT="45725" marB="45725" marR="91450" marL="91450"/>
                </a:tc>
              </a:tr>
              <a:tr h="715175">
                <a:tc>
                  <a:txBody>
                    <a:bodyPr/>
                    <a:lstStyle/>
                    <a:p>
                      <a:pPr indent="0" lvl="0" marL="0" marR="0" rtl="0" algn="l">
                        <a:spcBef>
                          <a:spcPts val="0"/>
                        </a:spcBef>
                        <a:spcAft>
                          <a:spcPts val="0"/>
                        </a:spcAft>
                        <a:buNone/>
                      </a:pPr>
                      <a:r>
                        <a:rPr lang="en-US" sz="1800"/>
                        <a:t>The advantages of Bioaccumulation process includes:</a:t>
                      </a:r>
                      <a:endParaRPr/>
                    </a:p>
                  </a:txBody>
                  <a:tcPr marT="45725" marB="45725" marR="91450" marL="91450"/>
                </a:tc>
                <a:tc>
                  <a:txBody>
                    <a:bodyPr/>
                    <a:lstStyle/>
                    <a:p>
                      <a:pPr indent="0" lvl="0" marL="0" marR="0" rtl="0" algn="l">
                        <a:spcBef>
                          <a:spcPts val="0"/>
                        </a:spcBef>
                        <a:spcAft>
                          <a:spcPts val="0"/>
                        </a:spcAft>
                        <a:buNone/>
                      </a:pPr>
                      <a:r>
                        <a:rPr lang="en-US" sz="1800"/>
                        <a:t>Bioaccumulation process also has some</a:t>
                      </a:r>
                      <a:r>
                        <a:rPr lang="en-US" sz="1800"/>
                        <a:t> </a:t>
                      </a:r>
                      <a:r>
                        <a:rPr lang="en-US" sz="1800"/>
                        <a:t>disadvantages</a:t>
                      </a:r>
                      <a:r>
                        <a:rPr lang="en-US" sz="1800"/>
                        <a:t> </a:t>
                      </a:r>
                      <a:r>
                        <a:rPr lang="en-US" sz="1800"/>
                        <a:t>such as:</a:t>
                      </a:r>
                      <a:endParaRPr/>
                    </a:p>
                  </a:txBody>
                  <a:tcPr marT="45725" marB="45725" marR="91450" marL="91450"/>
                </a:tc>
              </a:tr>
              <a:tr h="1021675">
                <a:tc>
                  <a:txBody>
                    <a:bodyPr/>
                    <a:lstStyle/>
                    <a:p>
                      <a:pPr indent="-285750" lvl="0" marL="285750" marR="0" rtl="0" algn="l">
                        <a:spcBef>
                          <a:spcPts val="0"/>
                        </a:spcBef>
                        <a:spcAft>
                          <a:spcPts val="0"/>
                        </a:spcAft>
                        <a:buClr>
                          <a:schemeClr val="dk1"/>
                        </a:buClr>
                        <a:buSzPts val="1800"/>
                        <a:buFont typeface="Noto Sans Symbols"/>
                        <a:buChar char="❑"/>
                      </a:pPr>
                      <a:r>
                        <a:rPr lang="en-US" sz="1800"/>
                        <a:t> Simple process.</a:t>
                      </a:r>
                      <a:endParaRPr/>
                    </a:p>
                  </a:txBody>
                  <a:tcPr marT="45725" marB="45725" marR="91450" marL="91450"/>
                </a:tc>
                <a:tc>
                  <a:txBody>
                    <a:bodyPr/>
                    <a:lstStyle/>
                    <a:p>
                      <a:pPr indent="-285750" lvl="0" marL="285750" marR="0" rtl="0" algn="l">
                        <a:spcBef>
                          <a:spcPts val="0"/>
                        </a:spcBef>
                        <a:spcAft>
                          <a:spcPts val="0"/>
                        </a:spcAft>
                        <a:buClr>
                          <a:schemeClr val="dk1"/>
                        </a:buClr>
                        <a:buSzPts val="1800"/>
                        <a:buFont typeface="Noto Sans Symbols"/>
                        <a:buChar char="❑"/>
                      </a:pPr>
                      <a:r>
                        <a:rPr lang="en-US" sz="1800"/>
                        <a:t>the cells</a:t>
                      </a:r>
                      <a:r>
                        <a:rPr lang="en-US" sz="1800"/>
                        <a:t> </a:t>
                      </a:r>
                      <a:r>
                        <a:rPr lang="en-US" sz="1800"/>
                        <a:t>metabolism responsible for the intracellular accumulation</a:t>
                      </a:r>
                      <a:r>
                        <a:rPr lang="en-US" sz="1800"/>
                        <a:t> </a:t>
                      </a:r>
                      <a:r>
                        <a:rPr lang="en-US" sz="1800"/>
                        <a:t>may result in interruption to the bioaccumulation process</a:t>
                      </a:r>
                      <a:r>
                        <a:rPr lang="en-US" sz="1800"/>
                        <a:t> </a:t>
                      </a:r>
                      <a:r>
                        <a:rPr lang="en-US" sz="1800"/>
                        <a:t>by death of biomass.</a:t>
                      </a:r>
                      <a:endParaRPr/>
                    </a:p>
                  </a:txBody>
                  <a:tcPr marT="45725" marB="45725" marR="91450" marL="91450"/>
                </a:tc>
              </a:tr>
              <a:tr h="1021675">
                <a:tc>
                  <a:txBody>
                    <a:bodyPr/>
                    <a:lstStyle/>
                    <a:p>
                      <a:pPr indent="-285750" lvl="0" marL="285750" marR="0" rtl="0" algn="l">
                        <a:spcBef>
                          <a:spcPts val="0"/>
                        </a:spcBef>
                        <a:spcAft>
                          <a:spcPts val="0"/>
                        </a:spcAft>
                        <a:buClr>
                          <a:schemeClr val="dk1"/>
                        </a:buClr>
                        <a:buSzPts val="1800"/>
                        <a:buFont typeface="Noto Sans Symbols"/>
                        <a:buChar char="❑"/>
                      </a:pPr>
                      <a:r>
                        <a:rPr lang="en-US" sz="1800"/>
                        <a:t>In bioaccumulation, it is possible to reach lower</a:t>
                      </a:r>
                      <a:r>
                        <a:rPr lang="en-US" sz="1800"/>
                        <a:t> </a:t>
                      </a:r>
                      <a:r>
                        <a:rPr lang="en-US" sz="1800"/>
                        <a:t>residual concentration of sorbate because cells offer binding sites on the surface and inside the cell.</a:t>
                      </a:r>
                      <a:endParaRPr/>
                    </a:p>
                  </a:txBody>
                  <a:tcPr marT="45725" marB="45725" marR="91450" marL="91450"/>
                </a:tc>
                <a:tc>
                  <a:txBody>
                    <a:bodyPr/>
                    <a:lstStyle/>
                    <a:p>
                      <a:pPr indent="-285750" lvl="0" marL="285750" marR="0" rtl="0" algn="l">
                        <a:spcBef>
                          <a:spcPts val="0"/>
                        </a:spcBef>
                        <a:spcAft>
                          <a:spcPts val="0"/>
                        </a:spcAft>
                        <a:buClr>
                          <a:schemeClr val="dk1"/>
                        </a:buClr>
                        <a:buSzPts val="1800"/>
                        <a:buFont typeface="Noto Sans Symbols"/>
                        <a:buChar char="❑"/>
                      </a:pPr>
                      <a:r>
                        <a:rPr lang="en-US" sz="1800"/>
                        <a:t>Limitation in</a:t>
                      </a:r>
                      <a:r>
                        <a:rPr lang="en-US" sz="1800"/>
                        <a:t> </a:t>
                      </a:r>
                      <a:r>
                        <a:rPr lang="en-US" sz="1800"/>
                        <a:t>biological process.</a:t>
                      </a:r>
                      <a:endParaRPr/>
                    </a:p>
                  </a:txBody>
                  <a:tcPr marT="45725" marB="45725" marR="91450" marL="91450"/>
                </a:tc>
              </a:tr>
              <a:tr h="1021675">
                <a:tc>
                  <a:txBody>
                    <a:bodyPr/>
                    <a:lstStyle/>
                    <a:p>
                      <a:pPr indent="-285750" lvl="0" marL="285750" marR="0" rtl="0" algn="l">
                        <a:lnSpc>
                          <a:spcPct val="100000"/>
                        </a:lnSpc>
                        <a:spcBef>
                          <a:spcPts val="0"/>
                        </a:spcBef>
                        <a:spcAft>
                          <a:spcPts val="0"/>
                        </a:spcAft>
                        <a:buClr>
                          <a:schemeClr val="dk1"/>
                        </a:buClr>
                        <a:buSzPts val="1800"/>
                        <a:buFont typeface="Noto Sans Symbols"/>
                        <a:buChar char="❑"/>
                      </a:pPr>
                      <a:r>
                        <a:rPr lang="en-US" sz="1800"/>
                        <a:t> It does</a:t>
                      </a:r>
                      <a:r>
                        <a:rPr lang="en-US" sz="1800"/>
                        <a:t> </a:t>
                      </a:r>
                      <a:r>
                        <a:rPr lang="en-US" sz="1800"/>
                        <a:t>not require separate biomass cultivation or harvesting</a:t>
                      </a:r>
                      <a:r>
                        <a:rPr lang="en-US" sz="1800"/>
                        <a:t> </a:t>
                      </a:r>
                      <a:r>
                        <a:rPr lang="en-US" sz="1800"/>
                        <a:t>model.</a:t>
                      </a:r>
                      <a:endParaRPr/>
                    </a:p>
                    <a:p>
                      <a:pPr indent="-171450" lvl="0" marL="285750" marR="0" rtl="0" algn="l">
                        <a:spcBef>
                          <a:spcPts val="0"/>
                        </a:spcBef>
                        <a:spcAft>
                          <a:spcPts val="0"/>
                        </a:spcAft>
                        <a:buClr>
                          <a:schemeClr val="dk1"/>
                        </a:buClr>
                        <a:buSzPts val="1800"/>
                        <a:buFont typeface="Noto Sans Symbols"/>
                        <a:buNone/>
                      </a:pPr>
                      <a:r>
                        <a:t/>
                      </a:r>
                      <a:endParaRPr sz="1800"/>
                    </a:p>
                  </a:txBody>
                  <a:tcPr marT="45725" marB="45725" marR="91450" marL="91450"/>
                </a:tc>
                <a:tc>
                  <a:txBody>
                    <a:bodyPr/>
                    <a:lstStyle/>
                    <a:p>
                      <a:pPr indent="-285750" lvl="0" marL="285750" marR="0" rtl="0" algn="l">
                        <a:spcBef>
                          <a:spcPts val="0"/>
                        </a:spcBef>
                        <a:spcAft>
                          <a:spcPts val="0"/>
                        </a:spcAft>
                        <a:buClr>
                          <a:schemeClr val="dk1"/>
                        </a:buClr>
                        <a:buSzPts val="1800"/>
                        <a:buFont typeface="Noto Sans Symbols"/>
                        <a:buChar char="❑"/>
                      </a:pPr>
                      <a:r>
                        <a:rPr lang="en-US" sz="1800"/>
                        <a:t> the metal ions can only be removed by</a:t>
                      </a:r>
                      <a:r>
                        <a:rPr lang="en-US" sz="1800"/>
                        <a:t> </a:t>
                      </a:r>
                      <a:r>
                        <a:rPr lang="en-US" sz="1800"/>
                        <a:t>destructive methods like incineration or</a:t>
                      </a:r>
                      <a:r>
                        <a:rPr lang="en-US" sz="1800"/>
                        <a:t> </a:t>
                      </a:r>
                      <a:r>
                        <a:rPr lang="en-US" sz="1800"/>
                        <a:t>dissolution into</a:t>
                      </a:r>
                      <a:r>
                        <a:rPr lang="en-US" sz="1800"/>
                        <a:t> </a:t>
                      </a:r>
                      <a:r>
                        <a:rPr lang="en-US" sz="1800"/>
                        <a:t>strong acids or alkalis.</a:t>
                      </a:r>
                      <a:endParaRPr/>
                    </a:p>
                  </a:txBody>
                  <a:tcPr marT="45725" marB="45725" marR="91450" marL="91450"/>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9"/>
          <p:cNvSpPr txBox="1"/>
          <p:nvPr>
            <p:ph type="title"/>
          </p:nvPr>
        </p:nvSpPr>
        <p:spPr>
          <a:xfrm>
            <a:off x="1166728" y="400685"/>
            <a:ext cx="10058400" cy="904461"/>
          </a:xfrm>
          <a:prstGeom prst="rect">
            <a:avLst/>
          </a:prstGeom>
          <a:noFill/>
          <a:ln>
            <a:noFill/>
          </a:ln>
        </p:spPr>
        <p:txBody>
          <a:bodyPr anchorCtr="0" anchor="b" bIns="45700" lIns="91425" spcFirstLastPara="1" rIns="91425" wrap="square" tIns="45700">
            <a:noAutofit/>
          </a:bodyPr>
          <a:lstStyle/>
          <a:p>
            <a:pPr indent="0" lvl="0" marL="0" rtl="0" algn="ctr">
              <a:lnSpc>
                <a:spcPct val="85000"/>
              </a:lnSpc>
              <a:spcBef>
                <a:spcPts val="0"/>
              </a:spcBef>
              <a:spcAft>
                <a:spcPts val="0"/>
              </a:spcAft>
              <a:buClr>
                <a:schemeClr val="dk1"/>
              </a:buClr>
              <a:buSzPts val="4800"/>
              <a:buFont typeface="Arial Rounded"/>
              <a:buNone/>
            </a:pPr>
            <a:r>
              <a:rPr b="1" lang="en-US">
                <a:solidFill>
                  <a:schemeClr val="dk1"/>
                </a:solidFill>
                <a:latin typeface="Arial Rounded"/>
                <a:ea typeface="Arial Rounded"/>
                <a:cs typeface="Arial Rounded"/>
                <a:sym typeface="Arial Rounded"/>
              </a:rPr>
              <a:t>Comparative features of Biosorption &amp; Bioaccumulation</a:t>
            </a:r>
            <a:endParaRPr/>
          </a:p>
        </p:txBody>
      </p:sp>
      <p:graphicFrame>
        <p:nvGraphicFramePr>
          <p:cNvPr id="278" name="Google Shape;278;p19"/>
          <p:cNvGraphicFramePr/>
          <p:nvPr/>
        </p:nvGraphicFramePr>
        <p:xfrm>
          <a:off x="81023" y="1305146"/>
          <a:ext cx="3000000" cy="3000000"/>
        </p:xfrm>
        <a:graphic>
          <a:graphicData uri="http://schemas.openxmlformats.org/drawingml/2006/table">
            <a:tbl>
              <a:tblPr bandRow="1" firstRow="1">
                <a:noFill/>
                <a:tableStyleId>{224BCD85-2E57-4E2F-9988-8FE7A55A92FD}</a:tableStyleId>
              </a:tblPr>
              <a:tblGrid>
                <a:gridCol w="1993375"/>
                <a:gridCol w="4842725"/>
                <a:gridCol w="5206225"/>
              </a:tblGrid>
              <a:tr h="422025">
                <a:tc>
                  <a:txBody>
                    <a:bodyPr/>
                    <a:lstStyle/>
                    <a:p>
                      <a:pPr indent="0" lvl="0" marL="0" marR="0" rtl="0" algn="ctr">
                        <a:spcBef>
                          <a:spcPts val="0"/>
                        </a:spcBef>
                        <a:spcAft>
                          <a:spcPts val="0"/>
                        </a:spcAft>
                        <a:buNone/>
                      </a:pPr>
                      <a:r>
                        <a:rPr lang="en-US" sz="1800">
                          <a:latin typeface="Arial Black"/>
                          <a:ea typeface="Arial Black"/>
                          <a:cs typeface="Arial Black"/>
                          <a:sym typeface="Arial Black"/>
                        </a:rPr>
                        <a:t>Features</a:t>
                      </a:r>
                      <a:endParaRPr b="1" sz="1800">
                        <a:latin typeface="Arial Black"/>
                        <a:ea typeface="Arial Black"/>
                        <a:cs typeface="Arial Black"/>
                        <a:sym typeface="Arial Black"/>
                      </a:endParaRPr>
                    </a:p>
                  </a:txBody>
                  <a:tcPr marT="45725" marB="45725" marR="91450" marL="91450"/>
                </a:tc>
                <a:tc>
                  <a:txBody>
                    <a:bodyPr/>
                    <a:lstStyle/>
                    <a:p>
                      <a:pPr indent="0" lvl="0" marL="0" marR="0" rtl="0" algn="ctr">
                        <a:spcBef>
                          <a:spcPts val="0"/>
                        </a:spcBef>
                        <a:spcAft>
                          <a:spcPts val="0"/>
                        </a:spcAft>
                        <a:buNone/>
                      </a:pPr>
                      <a:r>
                        <a:rPr lang="en-US" sz="1800">
                          <a:latin typeface="Arial Black"/>
                          <a:ea typeface="Arial Black"/>
                          <a:cs typeface="Arial Black"/>
                          <a:sym typeface="Arial Black"/>
                        </a:rPr>
                        <a:t>BIOSORPTION</a:t>
                      </a:r>
                      <a:endParaRPr b="1" sz="1800">
                        <a:latin typeface="Arial Black"/>
                        <a:ea typeface="Arial Black"/>
                        <a:cs typeface="Arial Black"/>
                        <a:sym typeface="Arial Black"/>
                      </a:endParaRPr>
                    </a:p>
                  </a:txBody>
                  <a:tcPr marT="45725" marB="45725" marR="91450" marL="91450"/>
                </a:tc>
                <a:tc>
                  <a:txBody>
                    <a:bodyPr/>
                    <a:lstStyle/>
                    <a:p>
                      <a:pPr indent="0" lvl="0" marL="0" marR="0" rtl="0" algn="ctr">
                        <a:spcBef>
                          <a:spcPts val="0"/>
                        </a:spcBef>
                        <a:spcAft>
                          <a:spcPts val="0"/>
                        </a:spcAft>
                        <a:buNone/>
                      </a:pPr>
                      <a:r>
                        <a:rPr lang="en-US" sz="1800">
                          <a:latin typeface="Arial Black"/>
                          <a:ea typeface="Arial Black"/>
                          <a:cs typeface="Arial Black"/>
                          <a:sym typeface="Arial Black"/>
                        </a:rPr>
                        <a:t>BIOACCUMULATION</a:t>
                      </a:r>
                      <a:endParaRPr/>
                    </a:p>
                  </a:txBody>
                  <a:tcPr marT="45725" marB="45725" marR="91450" marL="91450"/>
                </a:tc>
              </a:tr>
              <a:tr h="422025">
                <a:tc>
                  <a:txBody>
                    <a:bodyPr/>
                    <a:lstStyle/>
                    <a:p>
                      <a:pPr indent="0" lvl="0" marL="0" marR="0" rtl="0" algn="l">
                        <a:spcBef>
                          <a:spcPts val="0"/>
                        </a:spcBef>
                        <a:spcAft>
                          <a:spcPts val="0"/>
                        </a:spcAft>
                        <a:buNone/>
                      </a:pPr>
                      <a:r>
                        <a:rPr lang="en-US" sz="1200"/>
                        <a:t>Cellular</a:t>
                      </a:r>
                      <a:r>
                        <a:rPr lang="en-US" sz="1200"/>
                        <a:t> </a:t>
                      </a:r>
                      <a:r>
                        <a:rPr lang="en-US" sz="1200"/>
                        <a:t>growth</a:t>
                      </a:r>
                      <a:endParaRPr sz="1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200"/>
                        <a:t>No cellular growth.</a:t>
                      </a:r>
                      <a:endParaRPr sz="1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None/>
                      </a:pPr>
                      <a:r>
                        <a:rPr lang="en-US" sz="1200"/>
                        <a:t> Cellular growth occurs.</a:t>
                      </a:r>
                      <a:endParaRPr sz="1200">
                        <a:latin typeface="Times New Roman"/>
                        <a:ea typeface="Times New Roman"/>
                        <a:cs typeface="Times New Roman"/>
                        <a:sym typeface="Times New Roman"/>
                      </a:endParaRPr>
                    </a:p>
                  </a:txBody>
                  <a:tcPr marT="45725" marB="45725" marR="91450" marL="91450"/>
                </a:tc>
              </a:tr>
              <a:tr h="618000">
                <a:tc>
                  <a:txBody>
                    <a:bodyPr/>
                    <a:lstStyle/>
                    <a:p>
                      <a:pPr indent="0" lvl="0" marL="0" marR="0" rtl="0" algn="l">
                        <a:spcBef>
                          <a:spcPts val="0"/>
                        </a:spcBef>
                        <a:spcAft>
                          <a:spcPts val="0"/>
                        </a:spcAft>
                        <a:buClr>
                          <a:schemeClr val="dk1"/>
                        </a:buClr>
                        <a:buSzPts val="1200"/>
                        <a:buFont typeface="Noto Sans Symbols"/>
                        <a:buNone/>
                      </a:pPr>
                      <a:r>
                        <a:rPr lang="en-US" sz="1200"/>
                        <a:t>Cost</a:t>
                      </a:r>
                      <a:endParaRPr sz="1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Clr>
                          <a:schemeClr val="dk1"/>
                        </a:buClr>
                        <a:buSzPts val="1200"/>
                        <a:buFont typeface="Noto Sans Symbols"/>
                        <a:buNone/>
                      </a:pPr>
                      <a:r>
                        <a:rPr lang="en-US" sz="1200"/>
                        <a:t>Generally low as the biosorbents used are mainly industrial, agricultural and</a:t>
                      </a:r>
                      <a:r>
                        <a:rPr lang="en-US" sz="1200"/>
                        <a:t> </a:t>
                      </a:r>
                      <a:r>
                        <a:rPr lang="en-US" sz="1200"/>
                        <a:t>other type of waste biomass.</a:t>
                      </a:r>
                      <a:endParaRPr sz="1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Clr>
                          <a:schemeClr val="dk1"/>
                        </a:buClr>
                        <a:buSzPts val="1200"/>
                        <a:buFont typeface="Noto Sans Symbols"/>
                        <a:buNone/>
                      </a:pPr>
                      <a:r>
                        <a:rPr lang="en-US" sz="1200"/>
                        <a:t>Usually high. The process involves living cells</a:t>
                      </a:r>
                      <a:r>
                        <a:rPr lang="en-US" sz="1200"/>
                        <a:t> </a:t>
                      </a:r>
                      <a:r>
                        <a:rPr lang="en-US" sz="1200"/>
                        <a:t>and hence, cell maintenance is cost prone.</a:t>
                      </a:r>
                      <a:endParaRPr sz="1200">
                        <a:latin typeface="Times New Roman"/>
                        <a:ea typeface="Times New Roman"/>
                        <a:cs typeface="Times New Roman"/>
                        <a:sym typeface="Times New Roman"/>
                      </a:endParaRPr>
                    </a:p>
                  </a:txBody>
                  <a:tcPr marT="45725" marB="45725" marR="91450" marL="91450"/>
                </a:tc>
              </a:tr>
              <a:tr h="544050">
                <a:tc>
                  <a:txBody>
                    <a:bodyPr/>
                    <a:lstStyle/>
                    <a:p>
                      <a:pPr indent="0" lvl="0" marL="0" marR="0" rtl="0" algn="l">
                        <a:spcBef>
                          <a:spcPts val="0"/>
                        </a:spcBef>
                        <a:spcAft>
                          <a:spcPts val="0"/>
                        </a:spcAft>
                        <a:buClr>
                          <a:schemeClr val="dk1"/>
                        </a:buClr>
                        <a:buSzPts val="1200"/>
                        <a:buFont typeface="Noto Sans Symbols"/>
                        <a:buNone/>
                      </a:pPr>
                      <a:r>
                        <a:rPr lang="en-US" sz="1200"/>
                        <a:t>Degree of</a:t>
                      </a:r>
                      <a:r>
                        <a:rPr lang="en-US" sz="1200"/>
                        <a:t> </a:t>
                      </a:r>
                      <a:r>
                        <a:rPr lang="en-US" sz="1200"/>
                        <a:t>uptake</a:t>
                      </a:r>
                      <a:endParaRPr/>
                    </a:p>
                    <a:p>
                      <a:pPr indent="0" lvl="0" marL="0" marR="0" rtl="0" algn="l">
                        <a:spcBef>
                          <a:spcPts val="0"/>
                        </a:spcBef>
                        <a:spcAft>
                          <a:spcPts val="0"/>
                        </a:spcAft>
                        <a:buClr>
                          <a:schemeClr val="dk1"/>
                        </a:buClr>
                        <a:buSzPts val="1200"/>
                        <a:buFont typeface="Noto Sans Symbols"/>
                        <a:buNone/>
                      </a:pPr>
                      <a:r>
                        <a:t/>
                      </a:r>
                      <a:endParaRPr sz="1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Clr>
                          <a:schemeClr val="dk1"/>
                        </a:buClr>
                        <a:buSzPts val="1200"/>
                        <a:buFont typeface="Noto Sans Symbols"/>
                        <a:buNone/>
                      </a:pPr>
                      <a:r>
                        <a:rPr lang="en-US" sz="1200"/>
                        <a:t>Extremely high.</a:t>
                      </a:r>
                      <a:endParaRPr sz="1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Clr>
                          <a:schemeClr val="dk1"/>
                        </a:buClr>
                        <a:buSzPts val="1200"/>
                        <a:buFont typeface="Noto Sans Symbols"/>
                        <a:buNone/>
                      </a:pPr>
                      <a:r>
                        <a:rPr lang="en-US" sz="1200"/>
                        <a:t>As living cells are sensitive to high toxicant</a:t>
                      </a:r>
                      <a:r>
                        <a:rPr lang="en-US" sz="1200"/>
                        <a:t> </a:t>
                      </a:r>
                      <a:r>
                        <a:rPr lang="en-US" sz="1200"/>
                        <a:t>concentration, uptake is usually low.</a:t>
                      </a:r>
                      <a:endParaRPr/>
                    </a:p>
                    <a:p>
                      <a:pPr indent="0" lvl="0" marL="0" marR="0" rtl="0" algn="l">
                        <a:spcBef>
                          <a:spcPts val="0"/>
                        </a:spcBef>
                        <a:spcAft>
                          <a:spcPts val="0"/>
                        </a:spcAft>
                        <a:buClr>
                          <a:schemeClr val="dk1"/>
                        </a:buClr>
                        <a:buSzPts val="1200"/>
                        <a:buFont typeface="Noto Sans Symbols"/>
                        <a:buNone/>
                      </a:pPr>
                      <a:r>
                        <a:t/>
                      </a:r>
                      <a:endParaRPr sz="1200">
                        <a:latin typeface="Times New Roman"/>
                        <a:ea typeface="Times New Roman"/>
                        <a:cs typeface="Times New Roman"/>
                        <a:sym typeface="Times New Roman"/>
                      </a:endParaRPr>
                    </a:p>
                  </a:txBody>
                  <a:tcPr marT="45725" marB="45725" marR="91450" marL="91450"/>
                </a:tc>
              </a:tr>
              <a:tr h="708100">
                <a:tc>
                  <a:txBody>
                    <a:bodyPr/>
                    <a:lstStyle/>
                    <a:p>
                      <a:pPr indent="0" lvl="0" marL="0" marR="0" rtl="0" algn="l">
                        <a:spcBef>
                          <a:spcPts val="0"/>
                        </a:spcBef>
                        <a:spcAft>
                          <a:spcPts val="0"/>
                        </a:spcAft>
                        <a:buClr>
                          <a:schemeClr val="dk1"/>
                        </a:buClr>
                        <a:buSzPts val="1200"/>
                        <a:buFont typeface="Noto Sans Symbols"/>
                        <a:buNone/>
                      </a:pPr>
                      <a:r>
                        <a:rPr lang="en-US" sz="1200"/>
                        <a:t>Maintenance/</a:t>
                      </a:r>
                      <a:r>
                        <a:rPr lang="en-US" sz="1200"/>
                        <a:t> </a:t>
                      </a:r>
                      <a:r>
                        <a:rPr lang="en-US" sz="1200"/>
                        <a:t>Storage</a:t>
                      </a:r>
                      <a:endParaRPr/>
                    </a:p>
                    <a:p>
                      <a:pPr indent="0" lvl="0" marL="0" marR="0" rtl="0" algn="l">
                        <a:spcBef>
                          <a:spcPts val="0"/>
                        </a:spcBef>
                        <a:spcAft>
                          <a:spcPts val="0"/>
                        </a:spcAft>
                        <a:buClr>
                          <a:schemeClr val="dk1"/>
                        </a:buClr>
                        <a:buSzPts val="1200"/>
                        <a:buFont typeface="Noto Sans Symbols"/>
                        <a:buNone/>
                      </a:pPr>
                      <a:r>
                        <a:t/>
                      </a:r>
                      <a:endParaRPr sz="1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Clr>
                          <a:schemeClr val="dk1"/>
                        </a:buClr>
                        <a:buSzPts val="1200"/>
                        <a:buFont typeface="Noto Sans Symbols"/>
                        <a:buNone/>
                      </a:pPr>
                      <a:r>
                        <a:rPr lang="en-US" sz="1200"/>
                        <a:t>Easy to store and use as the biomass is inactive. </a:t>
                      </a:r>
                      <a:endParaRPr sz="1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Clr>
                          <a:schemeClr val="dk1"/>
                        </a:buClr>
                        <a:buSzPts val="1200"/>
                        <a:buFont typeface="Noto Sans Symbols"/>
                        <a:buNone/>
                      </a:pPr>
                      <a:r>
                        <a:rPr lang="en-US" sz="1200"/>
                        <a:t>External metabolic energy is needed for</a:t>
                      </a:r>
                      <a:endParaRPr/>
                    </a:p>
                    <a:p>
                      <a:pPr indent="0" lvl="0" marL="0" marR="0" rtl="0" algn="l">
                        <a:spcBef>
                          <a:spcPts val="0"/>
                        </a:spcBef>
                        <a:spcAft>
                          <a:spcPts val="0"/>
                        </a:spcAft>
                        <a:buClr>
                          <a:schemeClr val="dk1"/>
                        </a:buClr>
                        <a:buSzPts val="1200"/>
                        <a:buFont typeface="Noto Sans Symbols"/>
                        <a:buNone/>
                      </a:pPr>
                      <a:r>
                        <a:rPr lang="en-US" sz="1200"/>
                        <a:t>maintenance of the culture.</a:t>
                      </a:r>
                      <a:endParaRPr/>
                    </a:p>
                    <a:p>
                      <a:pPr indent="0" lvl="0" marL="0" marR="0" rtl="0" algn="l">
                        <a:spcBef>
                          <a:spcPts val="0"/>
                        </a:spcBef>
                        <a:spcAft>
                          <a:spcPts val="0"/>
                        </a:spcAft>
                        <a:buClr>
                          <a:schemeClr val="dk1"/>
                        </a:buClr>
                        <a:buSzPts val="1200"/>
                        <a:buFont typeface="Noto Sans Symbols"/>
                        <a:buNone/>
                      </a:pPr>
                      <a:r>
                        <a:t/>
                      </a:r>
                      <a:endParaRPr sz="1200">
                        <a:latin typeface="Times New Roman"/>
                        <a:ea typeface="Times New Roman"/>
                        <a:cs typeface="Times New Roman"/>
                        <a:sym typeface="Times New Roman"/>
                      </a:endParaRPr>
                    </a:p>
                  </a:txBody>
                  <a:tcPr marT="45725" marB="45725" marR="91450" marL="91450"/>
                </a:tc>
              </a:tr>
              <a:tr h="453800">
                <a:tc>
                  <a:txBody>
                    <a:bodyPr/>
                    <a:lstStyle/>
                    <a:p>
                      <a:pPr indent="0" lvl="0" marL="0" marR="0" rtl="0" algn="l">
                        <a:spcBef>
                          <a:spcPts val="0"/>
                        </a:spcBef>
                        <a:spcAft>
                          <a:spcPts val="0"/>
                        </a:spcAft>
                        <a:buClr>
                          <a:schemeClr val="dk1"/>
                        </a:buClr>
                        <a:buSzPts val="1200"/>
                        <a:buFont typeface="Noto Sans Symbols"/>
                        <a:buNone/>
                      </a:pPr>
                      <a:r>
                        <a:rPr lang="en-US" sz="1200"/>
                        <a:t>Process</a:t>
                      </a:r>
                      <a:endParaRPr sz="1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Clr>
                          <a:schemeClr val="dk1"/>
                        </a:buClr>
                        <a:buSzPts val="1200"/>
                        <a:buFont typeface="Noto Sans Symbols"/>
                        <a:buNone/>
                      </a:pPr>
                      <a:r>
                        <a:rPr lang="en-US" sz="1200"/>
                        <a:t>Single stage passive process.</a:t>
                      </a:r>
                      <a:endParaRPr sz="1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Clr>
                          <a:schemeClr val="dk1"/>
                        </a:buClr>
                        <a:buSzPts val="1200"/>
                        <a:buFont typeface="Noto Sans Symbols"/>
                        <a:buNone/>
                      </a:pPr>
                      <a:r>
                        <a:rPr lang="en-US" sz="1200"/>
                        <a:t>Double stage active process.</a:t>
                      </a:r>
                      <a:endParaRPr sz="1200">
                        <a:latin typeface="Times New Roman"/>
                        <a:ea typeface="Times New Roman"/>
                        <a:cs typeface="Times New Roman"/>
                        <a:sym typeface="Times New Roman"/>
                      </a:endParaRPr>
                    </a:p>
                  </a:txBody>
                  <a:tcPr marT="45725" marB="45725" marR="91450" marL="91450"/>
                </a:tc>
              </a:tr>
              <a:tr h="505775">
                <a:tc>
                  <a:txBody>
                    <a:bodyPr/>
                    <a:lstStyle/>
                    <a:p>
                      <a:pPr indent="0" lvl="0" marL="0" marR="0" rtl="0" algn="l">
                        <a:spcBef>
                          <a:spcPts val="0"/>
                        </a:spcBef>
                        <a:spcAft>
                          <a:spcPts val="0"/>
                        </a:spcAft>
                        <a:buClr>
                          <a:schemeClr val="dk1"/>
                        </a:buClr>
                        <a:buSzPts val="1200"/>
                        <a:buFont typeface="Noto Sans Symbols"/>
                        <a:buNone/>
                      </a:pPr>
                      <a:r>
                        <a:rPr lang="en-US" sz="1200"/>
                        <a:t>Reaction</a:t>
                      </a:r>
                      <a:r>
                        <a:rPr lang="en-US" sz="1200"/>
                        <a:t> </a:t>
                      </a:r>
                      <a:r>
                        <a:rPr lang="en-US" sz="1200"/>
                        <a:t>mode</a:t>
                      </a:r>
                      <a:endParaRPr/>
                    </a:p>
                    <a:p>
                      <a:pPr indent="0" lvl="0" marL="0" marR="0" rtl="0" algn="l">
                        <a:spcBef>
                          <a:spcPts val="0"/>
                        </a:spcBef>
                        <a:spcAft>
                          <a:spcPts val="0"/>
                        </a:spcAft>
                        <a:buClr>
                          <a:schemeClr val="dk1"/>
                        </a:buClr>
                        <a:buSzPts val="1200"/>
                        <a:buFont typeface="Noto Sans Symbols"/>
                        <a:buNone/>
                      </a:pPr>
                      <a:r>
                        <a:t/>
                      </a:r>
                      <a:endParaRPr sz="1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Clr>
                          <a:schemeClr val="dk1"/>
                        </a:buClr>
                        <a:buSzPts val="1200"/>
                        <a:buFont typeface="Noto Sans Symbols"/>
                        <a:buNone/>
                      </a:pPr>
                      <a:r>
                        <a:rPr lang="en-US" sz="1200"/>
                        <a:t>Adsorption.</a:t>
                      </a:r>
                      <a:endParaRPr sz="1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Clr>
                          <a:schemeClr val="dk1"/>
                        </a:buClr>
                        <a:buSzPts val="1200"/>
                        <a:buFont typeface="Noto Sans Symbols"/>
                        <a:buNone/>
                      </a:pPr>
                      <a:r>
                        <a:rPr lang="en-US" sz="1200"/>
                        <a:t>Absorption.</a:t>
                      </a:r>
                      <a:endParaRPr sz="1200">
                        <a:latin typeface="Times New Roman"/>
                        <a:ea typeface="Times New Roman"/>
                        <a:cs typeface="Times New Roman"/>
                        <a:sym typeface="Times New Roman"/>
                      </a:endParaRPr>
                    </a:p>
                  </a:txBody>
                  <a:tcPr marT="45725" marB="45725" marR="91450" marL="91450"/>
                </a:tc>
              </a:tr>
              <a:tr h="646400">
                <a:tc>
                  <a:txBody>
                    <a:bodyPr/>
                    <a:lstStyle/>
                    <a:p>
                      <a:pPr indent="0" lvl="0" marL="0" marR="0" rtl="0" algn="l">
                        <a:spcBef>
                          <a:spcPts val="0"/>
                        </a:spcBef>
                        <a:spcAft>
                          <a:spcPts val="0"/>
                        </a:spcAft>
                        <a:buClr>
                          <a:schemeClr val="dk1"/>
                        </a:buClr>
                        <a:buSzPts val="1200"/>
                        <a:buFont typeface="Noto Sans Symbols"/>
                        <a:buNone/>
                      </a:pPr>
                      <a:r>
                        <a:rPr lang="en-US" sz="1200"/>
                        <a:t>Rate of</a:t>
                      </a:r>
                      <a:r>
                        <a:rPr lang="en-US" sz="1200"/>
                        <a:t> </a:t>
                      </a:r>
                      <a:r>
                        <a:rPr lang="en-US" sz="1200"/>
                        <a:t>uptake</a:t>
                      </a:r>
                      <a:endParaRPr/>
                    </a:p>
                    <a:p>
                      <a:pPr indent="0" lvl="0" marL="0" marR="0" rtl="0" algn="l">
                        <a:spcBef>
                          <a:spcPts val="0"/>
                        </a:spcBef>
                        <a:spcAft>
                          <a:spcPts val="0"/>
                        </a:spcAft>
                        <a:buClr>
                          <a:schemeClr val="dk1"/>
                        </a:buClr>
                        <a:buSzPts val="1200"/>
                        <a:buFont typeface="Noto Sans Symbols"/>
                        <a:buNone/>
                      </a:pPr>
                      <a:r>
                        <a:t/>
                      </a:r>
                      <a:endParaRPr sz="1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Clr>
                          <a:schemeClr val="dk1"/>
                        </a:buClr>
                        <a:buSzPts val="1200"/>
                        <a:buFont typeface="Noto Sans Symbols"/>
                        <a:buNone/>
                      </a:pPr>
                      <a:r>
                        <a:rPr lang="en-US" sz="1200"/>
                        <a:t>Most biosorption mechanisms are rapid due to extracellular accumulation.</a:t>
                      </a:r>
                      <a:endParaRPr sz="1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Clr>
                          <a:schemeClr val="dk1"/>
                        </a:buClr>
                        <a:buSzPts val="1200"/>
                        <a:buFont typeface="Noto Sans Symbols"/>
                        <a:buNone/>
                      </a:pPr>
                      <a:r>
                        <a:rPr lang="en-US" sz="1200"/>
                        <a:t>Usually slower than biosorption. Since</a:t>
                      </a:r>
                      <a:r>
                        <a:rPr lang="en-US" sz="1200"/>
                        <a:t> </a:t>
                      </a:r>
                      <a:r>
                        <a:rPr lang="en-US" sz="1200"/>
                        <a:t>intracellular accumulation is time consuming.</a:t>
                      </a:r>
                      <a:endParaRPr sz="1200">
                        <a:latin typeface="Times New Roman"/>
                        <a:ea typeface="Times New Roman"/>
                        <a:cs typeface="Times New Roman"/>
                        <a:sym typeface="Times New Roman"/>
                      </a:endParaRPr>
                    </a:p>
                  </a:txBody>
                  <a:tcPr marT="45725" marB="45725" marR="91450" marL="91450"/>
                </a:tc>
              </a:tr>
              <a:tr h="708100">
                <a:tc>
                  <a:txBody>
                    <a:bodyPr/>
                    <a:lstStyle/>
                    <a:p>
                      <a:pPr indent="0" lvl="0" marL="0" marR="0" rtl="0" algn="l">
                        <a:spcBef>
                          <a:spcPts val="0"/>
                        </a:spcBef>
                        <a:spcAft>
                          <a:spcPts val="0"/>
                        </a:spcAft>
                        <a:buClr>
                          <a:schemeClr val="dk1"/>
                        </a:buClr>
                        <a:buSzPts val="1200"/>
                        <a:buFont typeface="Noto Sans Symbols"/>
                        <a:buNone/>
                      </a:pPr>
                      <a:r>
                        <a:rPr lang="en-US" sz="1200"/>
                        <a:t>Selectivity</a:t>
                      </a:r>
                      <a:endParaRPr sz="1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Clr>
                          <a:schemeClr val="dk1"/>
                        </a:buClr>
                        <a:buSzPts val="1200"/>
                        <a:buFont typeface="Noto Sans Symbols"/>
                        <a:buNone/>
                      </a:pPr>
                      <a:r>
                        <a:rPr lang="en-US" sz="1200"/>
                        <a:t>Poor. However, selectivity can be improved by modification/processing of</a:t>
                      </a:r>
                      <a:endParaRPr/>
                    </a:p>
                    <a:p>
                      <a:pPr indent="0" lvl="0" marL="0" marR="0" rtl="0" algn="l">
                        <a:spcBef>
                          <a:spcPts val="0"/>
                        </a:spcBef>
                        <a:spcAft>
                          <a:spcPts val="0"/>
                        </a:spcAft>
                        <a:buClr>
                          <a:schemeClr val="dk1"/>
                        </a:buClr>
                        <a:buSzPts val="1200"/>
                        <a:buFont typeface="Noto Sans Symbols"/>
                        <a:buNone/>
                      </a:pPr>
                      <a:r>
                        <a:rPr lang="en-US" sz="1200"/>
                        <a:t>Biomass.</a:t>
                      </a:r>
                      <a:endParaRPr/>
                    </a:p>
                    <a:p>
                      <a:pPr indent="0" lvl="0" marL="0" marR="0" rtl="0" algn="l">
                        <a:spcBef>
                          <a:spcPts val="0"/>
                        </a:spcBef>
                        <a:spcAft>
                          <a:spcPts val="0"/>
                        </a:spcAft>
                        <a:buClr>
                          <a:schemeClr val="dk1"/>
                        </a:buClr>
                        <a:buSzPts val="1200"/>
                        <a:buFont typeface="Noto Sans Symbols"/>
                        <a:buNone/>
                      </a:pPr>
                      <a:r>
                        <a:t/>
                      </a:r>
                      <a:endParaRPr sz="1200">
                        <a:latin typeface="Times New Roman"/>
                        <a:ea typeface="Times New Roman"/>
                        <a:cs typeface="Times New Roman"/>
                        <a:sym typeface="Times New Roman"/>
                      </a:endParaRPr>
                    </a:p>
                  </a:txBody>
                  <a:tcPr marT="45725" marB="45725" marR="91450" marL="91450"/>
                </a:tc>
                <a:tc>
                  <a:txBody>
                    <a:bodyPr/>
                    <a:lstStyle/>
                    <a:p>
                      <a:pPr indent="0" lvl="0" marL="0" marR="0" rtl="0" algn="l">
                        <a:spcBef>
                          <a:spcPts val="0"/>
                        </a:spcBef>
                        <a:spcAft>
                          <a:spcPts val="0"/>
                        </a:spcAft>
                        <a:buClr>
                          <a:schemeClr val="dk1"/>
                        </a:buClr>
                        <a:buSzPts val="1200"/>
                        <a:buFont typeface="Noto Sans Symbols"/>
                        <a:buNone/>
                      </a:pPr>
                      <a:r>
                        <a:rPr lang="en-US" sz="1200"/>
                        <a:t>Better than biosorption.</a:t>
                      </a:r>
                      <a:endParaRPr sz="1200">
                        <a:latin typeface="Times New Roman"/>
                        <a:ea typeface="Times New Roman"/>
                        <a:cs typeface="Times New Roman"/>
                        <a:sym typeface="Times New Roman"/>
                      </a:endParaRPr>
                    </a:p>
                  </a:txBody>
                  <a:tcPr marT="45725" marB="45725" marR="91450" marL="91450"/>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2023-04-12T06:02:04Z</dcterms:created>
  <dc:creator>Jayant Rajwani</dc:creator>
</cp:coreProperties>
</file>